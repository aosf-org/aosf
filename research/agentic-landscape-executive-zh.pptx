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748B"/>
                </a:solidFill>
                <a:latin typeface="Calibri"/>
              </a:defRPr>
            </a:pPr>
            <a:r>
              <a:t>AOSF  •  智能体开源基金会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智能体AI与</a:t>
            </a:r>
            <a:br/>
            <a:r>
              <a:t>氛围编程全景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0A5FA"/>
                </a:solidFill>
                <a:latin typeface="Calibri"/>
              </a:defRPr>
            </a:pPr>
            <a:r>
              <a:t>智能体开源基金会为何重要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754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高层简报  •  2026年2月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554480"/>
            <a:ext cx="27432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B3D"/>
                </a:solidFill>
                <a:latin typeface="Calibri"/>
              </a:defRPr>
            </a:pPr>
            <a:r>
              <a:t>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Calibri"/>
              </a:defRPr>
            </a:pPr>
            <a:r>
              <a:t>两股汇聚的力量——智能体AI与氛围编程——正在从根本上重塑软件的编写、审核与部署方式。到2026年初，AI智能体已能自主编写、测试和部署代码。然而，目前尚无任何基金会能够满足AI生成开源软件的独特治理需求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560320"/>
            <a:ext cx="22860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697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F46E5"/>
                </a:solidFill>
                <a:latin typeface="Calibri"/>
              </a:defRPr>
            </a:pPr>
            <a:r>
              <a:t>$47–93B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2461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智能体AI市场</a:t>
            </a:r>
            <a:br/>
            <a:r>
              <a:t>2030–2032年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2560320"/>
            <a:ext cx="22860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697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F46E5"/>
                </a:solidFill>
                <a:latin typeface="Calibri"/>
              </a:defRPr>
            </a:pPr>
            <a:r>
              <a:t>45%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2461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AI生成代码</a:t>
            </a:r>
            <a:br/>
            <a:r>
              <a:t>存在安全漏洞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560320"/>
            <a:ext cx="22860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697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F46E5"/>
                </a:solidFill>
                <a:latin typeface="Calibri"/>
              </a:defRPr>
            </a:pPr>
            <a:r>
              <a:t>60K+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2461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已采用</a:t>
            </a:r>
            <a:br/>
            <a:r>
              <a:t>AGENTS.md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2560320"/>
            <a:ext cx="22860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39" y="2697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F46E5"/>
                </a:solidFill>
                <a:latin typeface="Calibri"/>
              </a:defRPr>
            </a:pPr>
            <a:r>
              <a:t>1B+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39" y="32461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C/C++代码行数</a:t>
            </a:r>
            <a:br/>
            <a:r>
              <a:t>待重写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891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Calibri"/>
              </a:defRPr>
            </a:pPr>
            <a:r>
              <a:t>智能体开源基金会（AOSF）填补了这一空白——为氛围编程时代提供智能体原生的治理机制。AOSF并非与现有基金会竞争，而是在AI代码质量验证、安全保障、溯源追踪和公正模型评估方面形成互补。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4F46E5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智能体AI全景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97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重塑软件开发的自主系统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B3D"/>
                </a:solidFill>
                <a:latin typeface="Calibri"/>
              </a:defRPr>
            </a:pPr>
            <a:r>
              <a:t>什么是智能体AI？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Calibri"/>
              </a:defRPr>
            </a:pPr>
            <a:r>
              <a:t>能够自主行动的AI系统——追求复杂目标、规划多步骤工作流程，并在无需人工直接干预的情况下与工具及外部系统进行交互。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286000"/>
            <a:ext cx="3108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286000"/>
            <a:ext cx="310896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468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Calibri"/>
              </a:defRPr>
            </a:pPr>
            <a:r>
              <a:t>🎯  目标追求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880360"/>
            <a:ext cx="26517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自主追求复杂目标，设定子目标并迭代优化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286000"/>
            <a:ext cx="3108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2286000"/>
            <a:ext cx="310896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Calibri"/>
              </a:defRPr>
            </a:pPr>
            <a:r>
              <a:t>🧠  规划与推理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80360"/>
            <a:ext cx="26517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多步骤规划与实时策略调整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286000"/>
            <a:ext cx="3108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2286000"/>
            <a:ext cx="31089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2468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Calibri"/>
              </a:defRPr>
            </a:pPr>
            <a:r>
              <a:t>🔧  工具使用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880360"/>
            <a:ext cx="26517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与API、数据库、代码编辑器及外部系统交互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114800"/>
            <a:ext cx="3108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4114800"/>
            <a:ext cx="3108960" cy="45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4297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891B2"/>
                </a:solidFill>
                <a:latin typeface="Calibri"/>
              </a:defRPr>
            </a:pPr>
            <a:r>
              <a:t>🔄  自我纠错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709160"/>
            <a:ext cx="26517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从错误和反馈中学习以改进输出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4114800"/>
            <a:ext cx="3108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4114800"/>
            <a:ext cx="310896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297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👥  多智能体协作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709160"/>
            <a:ext cx="26517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协调专业智能体团队执行复杂任务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B3D"/>
                </a:solidFill>
                <a:latin typeface="Calibri"/>
              </a:defRPr>
            </a:pPr>
            <a:r>
              <a:t>智能体AI领域主要参与者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280160"/>
            <a:ext cx="3108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280160"/>
            <a:ext cx="310896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46303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Calibri"/>
              </a:defRPr>
            </a:pPr>
            <a:r>
              <a:t>Anthropic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74519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Claude Code，MCP协议创建者</a:t>
            </a:r>
            <a:br/>
            <a:r>
              <a:t>Model Context Protocol标准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280160"/>
            <a:ext cx="3108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280160"/>
            <a:ext cx="31089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46303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Calibri"/>
              </a:defRPr>
            </a:pPr>
            <a:r>
              <a:t>Google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874519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A2A协议，Agent Development Kit</a:t>
            </a:r>
            <a:br/>
            <a:r>
              <a:t>已将A2A捐赠给Linux基金会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280160"/>
            <a:ext cx="3108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1280160"/>
            <a:ext cx="310896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46303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Calibri"/>
              </a:defRPr>
            </a:pPr>
            <a:r>
              <a:t>Microsoft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1874519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AutoGen框架，GitHub Copilot</a:t>
            </a:r>
            <a:br/>
            <a:r>
              <a:t>事件驱动的多智能体系统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383279"/>
            <a:ext cx="3108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3383279"/>
            <a:ext cx="310896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566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OpenAI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977639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Codex、Operator、ChatGPT智能体</a:t>
            </a:r>
            <a:br/>
            <a:r>
              <a:t>规划与推理能力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3383279"/>
            <a:ext cx="3108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383279"/>
            <a:ext cx="310896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3566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97706"/>
                </a:solidFill>
                <a:latin typeface="Calibri"/>
              </a:defRPr>
            </a:pPr>
            <a:r>
              <a:t>Meta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977639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LLaMA开放模型，CodeLlama</a:t>
            </a:r>
            <a:br/>
            <a:r>
              <a:t>开放权重模型生态系统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3383279"/>
            <a:ext cx="3108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79" y="3383279"/>
            <a:ext cx="3108960" cy="45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3566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891B2"/>
                </a:solidFill>
                <a:latin typeface="Calibri"/>
              </a:defRPr>
            </a:pPr>
            <a:r>
              <a:t>开源社区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3977639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LangChain、CrewAI、OpenClaw</a:t>
            </a:r>
            <a:br/>
            <a:r>
              <a:t>社区驱动的智能体框架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B3D"/>
                </a:solidFill>
                <a:latin typeface="Calibri"/>
              </a:defRPr>
            </a:pPr>
            <a:r>
              <a:t>智能体协议：MCP、A2A与AGENTS.md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280160"/>
            <a:ext cx="3200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280160"/>
            <a:ext cx="32004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463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Calibri"/>
              </a:defRPr>
            </a:pPr>
            <a:r>
              <a:t>🔌 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74519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模型上下文协议</a:t>
            </a:r>
            <a:br/>
            <a:br/>
            <a:r>
              <a:t>由Anthropic创建</a:t>
            </a:r>
            <a:br/>
            <a:r>
              <a:t>"USB-C port for AI"</a:t>
            </a:r>
            <a:br/>
            <a:br/>
            <a:r>
              <a:t>智能体→工具通信</a:t>
            </a:r>
            <a:br/>
            <a:br/>
            <a:r>
              <a:t>已被Cursor、Windsurf、</a:t>
            </a:r>
            <a:br/>
            <a:r>
              <a:t>Claude Code、AutoGen等采用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80160"/>
            <a:ext cx="3200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1280160"/>
            <a:ext cx="32004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463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Calibri"/>
              </a:defRPr>
            </a:pPr>
            <a:r>
              <a:t>🤝  A2A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874519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智能体间通信协议</a:t>
            </a:r>
            <a:br/>
            <a:br/>
            <a:r>
              <a:t>由Google创建</a:t>
            </a:r>
            <a:br/>
            <a:r>
              <a:t>已捐赠给Linux基金会</a:t>
            </a:r>
            <a:br/>
            <a:br/>
            <a:r>
              <a:t>智能体→智能体通信</a:t>
            </a:r>
            <a:br/>
            <a:br/>
            <a:r>
              <a:t>不透明执行、能力</a:t>
            </a:r>
            <a:br/>
            <a:r>
              <a:t>发现与任务管理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200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320040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463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📄  AGENTS.md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874519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代码仓库约定</a:t>
            </a:r>
            <a:br/>
            <a:br/>
            <a:r>
              <a:t>由OpenClaw推广</a:t>
            </a:r>
            <a:br/>
            <a:r>
              <a:t>草根式采纳</a:t>
            </a:r>
            <a:br/>
            <a:br/>
            <a:r>
              <a:t>机器可读的代码库</a:t>
            </a:r>
            <a:br/>
            <a:r>
              <a:t>AI智能体操作指令</a:t>
            </a:r>
            <a:br/>
            <a:br/>
            <a:r>
              <a:t>60K+仓库且持续增长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89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F46E5"/>
                </a:solidFill>
                <a:latin typeface="Calibri"/>
              </a:defRPr>
            </a:pPr>
            <a:r>
              <a:t>MCP = 智能体到工具  •  A2A = 智能体到智能体  •  AGENTS.md = 智能体到代码库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注：并非所有平台都采用这些标准。例如，OpenClaw使用专有协议（内置工具、基于会话的多智能体、自定义通道插件），并可选MCP桥接。这种碎片化使得AOSF的中立治理角色对跨平台互操作性更加至关重要。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B3D"/>
                </a:solidFill>
                <a:latin typeface="Calibri"/>
              </a:defRPr>
            </a:pPr>
            <a:r>
              <a:t>市场规模与增长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4706302"/>
            <a:ext cx="891540" cy="140017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4386262"/>
            <a:ext cx="1074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  <a:latin typeface="Calibri"/>
              </a:defRPr>
            </a:pPr>
            <a:r>
              <a:t>$3.5B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892040"/>
            <a:ext cx="1074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606290"/>
            <a:ext cx="891540" cy="24003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4286250"/>
            <a:ext cx="1074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  <a:latin typeface="Calibri"/>
              </a:defRPr>
            </a:pPr>
            <a:r>
              <a:t>$6B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4892040"/>
            <a:ext cx="1074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4446270"/>
            <a:ext cx="891540" cy="40005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4126230"/>
            <a:ext cx="1074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  <a:latin typeface="Calibri"/>
              </a:defRPr>
            </a:pPr>
            <a:r>
              <a:t>$10B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4892040"/>
            <a:ext cx="1074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4166234"/>
            <a:ext cx="891540" cy="680085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3846195"/>
            <a:ext cx="1074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  <a:latin typeface="Calibri"/>
              </a:defRPr>
            </a:pPr>
            <a:r>
              <a:t>$17B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4892040"/>
            <a:ext cx="1074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2027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3686175"/>
            <a:ext cx="891540" cy="1160145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366135"/>
            <a:ext cx="1074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  <a:latin typeface="Calibri"/>
              </a:defRPr>
            </a:pPr>
            <a:r>
              <a:t>$29B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892040"/>
            <a:ext cx="1074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2028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926079"/>
            <a:ext cx="891540" cy="1920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606039"/>
            <a:ext cx="1074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  <a:latin typeface="Calibri"/>
              </a:defRPr>
            </a:pPr>
            <a:r>
              <a:t>$48B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892040"/>
            <a:ext cx="1074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2029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1645919"/>
            <a:ext cx="891540" cy="3200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1325879"/>
            <a:ext cx="1074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  <a:latin typeface="Calibri"/>
              </a:defRPr>
            </a:pPr>
            <a:r>
              <a:t>$80B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4892040"/>
            <a:ext cx="10744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2030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03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智能体AI市场预测  •  年复合增长率44–47%  •  数据来源：MarketsandMarkets、Gartner、LangChain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4F46E5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氛围编程革命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97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当AI编写大部分代码时，一切都将改变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B3D"/>
                </a:solidFill>
                <a:latin typeface="Calibri"/>
              </a:defRPr>
            </a:pPr>
            <a:r>
              <a:t>什么是氛围编程？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Calibri"/>
              </a:defRPr>
            </a:pPr>
            <a:r>
              <a:t>"There's a new kind of coding I call 'vibe coding', where you fully give in to the vibes, embrace exponentials, and forget that the code even exists."</a:t>
            </a:r>
            <a:br/>
            <a:r>
              <a:t>— Andrej Karpathy，2025年2月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4155"/>
                </a:solidFill>
                <a:latin typeface="Calibri"/>
              </a:defRPr>
            </a:pPr>
            <a:r>
              <a:t>•  由Andrej Karpathy提出（2025年2月）——2025年Collins词典年度词汇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6148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4155"/>
                </a:solidFill>
                <a:latin typeface="Calibri"/>
              </a:defRPr>
            </a:pPr>
            <a:r>
              <a:t>•  开发者用自然语言描述意图，AI生成代码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3697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4155"/>
                </a:solidFill>
                <a:latin typeface="Calibri"/>
              </a:defRPr>
            </a:pPr>
            <a:r>
              <a:t>•  YC 2025冬季班25%的初创公司代码库中95%由AI生成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1246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4155"/>
                </a:solidFill>
                <a:latin typeface="Calibri"/>
              </a:defRPr>
            </a:pPr>
            <a:r>
              <a:t>•  Google现有70%的代码由AI生成（Sundar Pichai，2025年10月）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879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4155"/>
                </a:solidFill>
                <a:latin typeface="Calibri"/>
              </a:defRPr>
            </a:pPr>
            <a:r>
              <a:t>•  GitHub Copilot：平台上40%以上的代码由AI生成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4155"/>
                </a:solidFill>
                <a:latin typeface="Calibri"/>
              </a:defRPr>
            </a:pPr>
            <a:r>
              <a:t>•  核心工具：Cursor、Windsurf、Claude Code、Replit Agent、Bolt、Lovable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389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4155"/>
                </a:solidFill>
                <a:latin typeface="Calibri"/>
              </a:defRPr>
            </a:pPr>
            <a:r>
              <a:t>•  开发者角色从编写代码转变为→审核、指导和验证AI输出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B3D"/>
                </a:solidFill>
                <a:latin typeface="Calibri"/>
              </a:defRPr>
            </a:pPr>
            <a:r>
              <a:t>安全问题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Calibri"/>
              </a:defRPr>
            </a:pPr>
            <a:r>
              <a:t>AI生成的代码速度快但脆弱，近半数存在安全漏洞。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334155"/>
                </a:solidFill>
                <a:latin typeface="Calibri"/>
              </a:defRPr>
            </a:pPr>
            <a:r>
              <a:t>注入漏洞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874519"/>
            <a:ext cx="6051665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46425" y="1828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52%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591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334155"/>
                </a:solidFill>
                <a:latin typeface="Calibri"/>
              </a:defRPr>
            </a:pPr>
            <a:r>
              <a:t>认证问题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404872"/>
            <a:ext cx="5586152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80912" y="235915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48%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95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334155"/>
                </a:solidFill>
                <a:latin typeface="Calibri"/>
              </a:defRPr>
            </a:pPr>
            <a:r>
              <a:t>数据泄露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935224"/>
            <a:ext cx="5237018" cy="3200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31778" y="288950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4198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334155"/>
                </a:solidFill>
                <a:latin typeface="Calibri"/>
              </a:defRPr>
            </a:pPr>
            <a:r>
              <a:t>安全配置错误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3465575"/>
            <a:ext cx="5004261" cy="3200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99021" y="341985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43%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9502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334155"/>
                </a:solidFill>
                <a:latin typeface="Calibri"/>
              </a:defRPr>
            </a:pPr>
            <a:r>
              <a:t>XSS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3995928"/>
            <a:ext cx="4771505" cy="3200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66265" y="395020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41%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334155"/>
                </a:solidFill>
                <a:latin typeface="Calibri"/>
              </a:defRPr>
            </a:pPr>
            <a:r>
              <a:t>不安全依赖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4526280"/>
            <a:ext cx="4538749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3509" y="4480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39%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0109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334155"/>
                </a:solidFill>
                <a:latin typeface="Calibri"/>
              </a:defRPr>
            </a:pPr>
            <a:r>
              <a:t>缓冲区溢出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5056631"/>
            <a:ext cx="4073236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7996" y="50109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5412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334155"/>
                </a:solidFill>
                <a:latin typeface="Calibri"/>
              </a:defRPr>
            </a:pPr>
            <a:r>
              <a:t>竞态条件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5586983"/>
            <a:ext cx="3258589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53349" y="554126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28%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4F46E5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治理空白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97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现有基金会未覆盖的领域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B3D"/>
                </a:solidFill>
                <a:latin typeface="Calibri"/>
              </a:defRPr>
            </a:pPr>
            <a:r>
              <a:t>基金会覆盖范围对比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280160"/>
            <a:ext cx="2743200" cy="438912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领域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280160"/>
            <a:ext cx="1463040" cy="438912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0" y="13258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Linux基金会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280160"/>
            <a:ext cx="1280160" cy="438912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13258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Apache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280160"/>
            <a:ext cx="1280160" cy="438912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3258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CNCF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280160"/>
            <a:ext cx="1280160" cy="438912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3258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280160"/>
            <a:ext cx="1463040" cy="438912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3258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AOSF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1719072"/>
            <a:ext cx="27432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17647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AI原生项目托管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1719072"/>
            <a:ext cx="14630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176479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1719072"/>
            <a:ext cx="12801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176479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719072"/>
            <a:ext cx="12801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76479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1719072"/>
            <a:ext cx="12801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0" y="176479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1719072"/>
            <a:ext cx="1463040" cy="43891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176479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5966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2157984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2203703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AI代码安全扫描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2157984"/>
            <a:ext cx="1463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0" y="2203703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97706"/>
                </a:solidFill>
                <a:latin typeface="Calibri"/>
              </a:defRPr>
            </a:pPr>
            <a:r>
              <a:t>~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2157984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0" y="2203703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2157984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2203703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97706"/>
                </a:solidFill>
                <a:latin typeface="Calibri"/>
              </a:defRPr>
            </a:pPr>
            <a:r>
              <a:t>~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2157984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0" y="2203703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2157984"/>
            <a:ext cx="1463040" cy="43891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2203703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5966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2596896"/>
            <a:ext cx="27432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88720" y="2642615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智能体治理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0" y="2596896"/>
            <a:ext cx="14630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1920" y="2642615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0" y="2596896"/>
            <a:ext cx="12801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94960" y="2642615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2596896"/>
            <a:ext cx="12801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0" y="2642615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63840" y="2596896"/>
            <a:ext cx="12801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80" y="2642615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0" y="2596896"/>
            <a:ext cx="1463040" cy="43891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35440" y="2642615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5966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97280" y="3035808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88720" y="3081527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AI伦理框架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40480" y="3035808"/>
            <a:ext cx="1463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31920" y="3081527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97706"/>
                </a:solidFill>
                <a:latin typeface="Calibri"/>
              </a:defRPr>
            </a:pPr>
            <a:r>
              <a:t>~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03520" y="3035808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94960" y="3081527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0" y="3035808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5120" y="3081527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863840" y="3035808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55280" y="3081527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97706"/>
                </a:solidFill>
                <a:latin typeface="Calibri"/>
              </a:defRPr>
            </a:pPr>
            <a:r>
              <a:t>~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0" y="3035808"/>
            <a:ext cx="1463040" cy="43891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35440" y="3081527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5966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97280" y="3474720"/>
            <a:ext cx="27432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88720" y="352043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内存安全倡议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40480" y="3474720"/>
            <a:ext cx="14630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31920" y="352043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97706"/>
                </a:solidFill>
                <a:latin typeface="Calibri"/>
              </a:defRPr>
            </a:pPr>
            <a:r>
              <a:t>~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03520" y="3474720"/>
            <a:ext cx="12801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94960" y="352043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83680" y="3474720"/>
            <a:ext cx="12801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75120" y="352043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863840" y="3474720"/>
            <a:ext cx="12801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955280" y="352043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0" y="3474720"/>
            <a:ext cx="1463040" cy="43891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35440" y="352043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5966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97280" y="3913631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88720" y="395935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开源模型评估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840480" y="3913631"/>
            <a:ext cx="1463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931920" y="3959351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303520" y="3913631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94960" y="3959351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83680" y="3913631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75120" y="3959351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863840" y="3913631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955280" y="3959351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44000" y="3913631"/>
            <a:ext cx="1463040" cy="43891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35440" y="3959351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5966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97280" y="4352544"/>
            <a:ext cx="27432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88720" y="43982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AI代码溯源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352544"/>
            <a:ext cx="14630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931920" y="439826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303520" y="4352544"/>
            <a:ext cx="12801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394960" y="43982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583680" y="4352544"/>
            <a:ext cx="12801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675120" y="43982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863840" y="4352544"/>
            <a:ext cx="12801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955280" y="43982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144000" y="4352544"/>
            <a:ext cx="1463040" cy="43891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235440" y="439826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5966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97280" y="4791456"/>
            <a:ext cx="2743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88720" y="48371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传统开源治理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840480" y="4791456"/>
            <a:ext cx="14630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931920" y="48371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5966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303520" y="4791456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394960" y="483717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5966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583680" y="4791456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675120" y="483717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5966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863840" y="4791456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955280" y="483717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5966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144000" y="4791456"/>
            <a:ext cx="1463040" cy="43891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235440" y="48371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5966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97280" y="5303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  <a:latin typeface="Calibri"/>
              </a:defRPr>
            </a:pPr>
            <a:r>
              <a:t>AOSF不与现有基金会竞争——而是填补它们未能覆盖的空白。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4F46E5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AOSF简介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97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智能体开源基金会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B3D"/>
                </a:solidFill>
                <a:latin typeface="Calibri"/>
              </a:defRPr>
            </a:pPr>
            <a:r>
              <a:t>五大核心功能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8007" y="128016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8007" y="1280160"/>
            <a:ext cx="201168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1463039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Calibri"/>
              </a:defRPr>
            </a:pPr>
            <a:r>
              <a:t>📦  氛围编程项目</a:t>
            </a:r>
            <a:br/>
            <a:r>
              <a:t>仓库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607" y="2286000"/>
            <a:ext cx="15544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AI生成开源软件的精选平台</a:t>
            </a:r>
            <a:br/>
            <a:r>
              <a:t>项目按质量分级：</a:t>
            </a:r>
            <a:br/>
            <a:r>
              <a:t>实验级→企业级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4007" y="128016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04007" y="1280160"/>
            <a:ext cx="201168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2607" y="1463039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97706"/>
                </a:solidFill>
                <a:latin typeface="Calibri"/>
              </a:defRPr>
            </a:pPr>
            <a:r>
              <a:t>🦀  Rust迁移</a:t>
            </a:r>
            <a:br/>
            <a:r>
              <a:t>倡议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2607" y="2286000"/>
            <a:ext cx="15544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AI辅助C/C++→Rust</a:t>
            </a:r>
            <a:br/>
            <a:r>
              <a:t>翻译转化关键</a:t>
            </a:r>
            <a:br/>
            <a:r>
              <a:t>基础设施代码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90007" y="128016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90007" y="1280160"/>
            <a:ext cx="2011680" cy="45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8607" y="1463039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891B2"/>
                </a:solidFill>
                <a:latin typeface="Calibri"/>
              </a:defRPr>
            </a:pPr>
            <a:r>
              <a:t>🤖  智能体原生</a:t>
            </a:r>
            <a:br/>
            <a:r>
              <a:t>运营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8607" y="2286000"/>
            <a:ext cx="15544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智能体辅助审核、</a:t>
            </a:r>
            <a:br/>
            <a:r>
              <a:t>自动化文档、透明</a:t>
            </a:r>
            <a:br/>
            <a:r>
              <a:t>审计追踪 + DAO混合模式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76007" y="128016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76007" y="1280160"/>
            <a:ext cx="201168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607" y="1463039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Calibri"/>
              </a:defRPr>
            </a:pPr>
            <a:r>
              <a:t>⚖️  AI伦理开发</a:t>
            </a:r>
            <a:br/>
            <a:r>
              <a:t>标准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4607" y="2286000"/>
            <a:ext cx="15544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署名、许可、</a:t>
            </a:r>
            <a:br/>
            <a:r>
              <a:t>人机协同框架</a:t>
            </a:r>
            <a:br/>
            <a:r>
              <a:t>面向AI生成代码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62007" y="128016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62007" y="1280160"/>
            <a:ext cx="201168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90607" y="1463039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Calibri"/>
              </a:defRPr>
            </a:pPr>
            <a:r>
              <a:t>🏆  CELLO</a:t>
            </a:r>
            <a:br/>
            <a:r>
              <a:t>排行榜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90607" y="2286000"/>
            <a:ext cx="15544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100%开源LLM代码</a:t>
            </a:r>
            <a:br/>
            <a:r>
              <a:t>评估。开放模型、</a:t>
            </a:r>
            <a:br/>
            <a:r>
              <a:t>开放工具、可复现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120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Calibri"/>
              </a:defRPr>
            </a:pPr>
            <a:r>
              <a:t>协同一体：为AI生成开源软件提供全面治理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B3D"/>
                </a:solidFill>
                <a:latin typeface="Calibri"/>
              </a:defRPr>
            </a:pPr>
            <a:r>
              <a:t>AI代码溯源标准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Calibri"/>
              </a:defRPr>
            </a:pPr>
            <a:r>
              <a:t>对AI生成代码的来源、审核状态和质量进行机器可读追踪——这对建立企业信任至关重要。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164592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4155"/>
                </a:solidFill>
                <a:latin typeface="Calibri"/>
              </a:defRPr>
            </a:pPr>
            <a:r>
              <a:t>AI生成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2011680"/>
            <a:ext cx="164592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20574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4155"/>
                </a:solidFill>
                <a:latin typeface="Calibri"/>
              </a:defRPr>
            </a:pPr>
            <a:r>
              <a:t>安全扫描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2011680"/>
            <a:ext cx="164592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20574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468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4155"/>
                </a:solidFill>
                <a:latin typeface="Calibri"/>
              </a:defRPr>
            </a:pPr>
            <a:r>
              <a:t>人工审核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2011680"/>
            <a:ext cx="164592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80" y="20574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80" y="2468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4155"/>
                </a:solidFill>
                <a:latin typeface="Calibri"/>
              </a:defRPr>
            </a:pPr>
            <a:r>
              <a:t>CELLO评分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2011680"/>
            <a:ext cx="164592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20574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34155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468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4155"/>
                </a:solidFill>
                <a:latin typeface="Calibri"/>
              </a:defRPr>
            </a:pPr>
            <a:r>
              <a:t>溯源记录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291840"/>
            <a:ext cx="9601200" cy="2560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3474720"/>
            <a:ext cx="9144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EFAC"/>
                </a:solidFill>
                <a:latin typeface="Courier New"/>
              </a:defRPr>
            </a:pPr>
            <a:r>
              <a:t>{</a:t>
            </a:r>
            <a:br/>
            <a:r>
              <a:t>  "schema": "aosf-provenance/v1",</a:t>
            </a:r>
            <a:br/>
            <a:r>
              <a:t>  "model_id": "deepseek-coder-v3-236b",</a:t>
            </a:r>
            <a:br/>
            <a:r>
              <a:t>  "human_reviewer": "@chris-dev",</a:t>
            </a:r>
            <a:br/>
            <a:r>
              <a:t>  "security_scan": { "tool": "semgrep", "findings": 0, "passed": true },</a:t>
            </a:r>
            <a:br/>
            <a:r>
              <a:t>  "cello_score": 87.4,</a:t>
            </a:r>
            <a:br/>
            <a:r>
              <a:t>  "quality_tier": "production-ready",</a:t>
            </a:r>
            <a:br/>
            <a:r>
              <a:t>  "license": "Apache-2.0"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B3D"/>
                </a:solidFill>
                <a:latin typeface="Calibri"/>
              </a:defRPr>
            </a:pPr>
            <a:r>
              <a:t>质量分级体系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Calibri"/>
              </a:defRPr>
            </a:pPr>
            <a:r>
              <a:t>每个AOSF托管的项目都会根据安全性、测试、文档和社区验证逐级递进。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2468880" cy="27432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C2626"/>
                </a:solidFill>
                <a:latin typeface="Calibri"/>
              </a:defRPr>
            </a:pPr>
            <a:r>
              <a:t>第一级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2626"/>
                </a:solidFill>
                <a:latin typeface="Calibri"/>
              </a:defRPr>
            </a:pPr>
            <a:r>
              <a:t>实验级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Calibri"/>
              </a:defRPr>
            </a:pPr>
            <a:r>
              <a:t>初始提交</a:t>
            </a:r>
            <a:br/>
            <a:r>
              <a:t>基础扫描</a:t>
            </a:r>
            <a:br/>
            <a:r>
              <a:t>无质量保证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926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011680"/>
            <a:ext cx="2468880" cy="27432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2148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97706"/>
                </a:solidFill>
                <a:latin typeface="Calibri"/>
              </a:defRPr>
            </a:pPr>
            <a:r>
              <a:t>第二级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468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Calibri"/>
              </a:defRPr>
            </a:pPr>
            <a:r>
              <a:t>验证级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0175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Calibri"/>
              </a:defRPr>
            </a:pPr>
            <a:r>
              <a:t>SAST/DAST通过</a:t>
            </a:r>
            <a:br/>
            <a:r>
              <a:t>溯源已验证</a:t>
            </a:r>
            <a:br/>
            <a:r>
              <a:t>社区已审核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926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011680"/>
            <a:ext cx="2468880" cy="2743200"/>
          </a:xfrm>
          <a:prstGeom prst="roundRect">
            <a:avLst/>
          </a:prstGeom>
          <a:solidFill>
            <a:srgbClr val="D1FAE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148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第三级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59669"/>
                </a:solidFill>
                <a:latin typeface="Calibri"/>
              </a:defRPr>
            </a:pPr>
            <a:r>
              <a:t>生产就绪级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0175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Calibri"/>
              </a:defRPr>
            </a:pPr>
            <a:r>
              <a:t>完整测试覆盖</a:t>
            </a:r>
            <a:br/>
            <a:r>
              <a:t>安全审计通过</a:t>
            </a:r>
            <a:br/>
            <a:r>
              <a:t>文档完善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926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2011680"/>
            <a:ext cx="2468880" cy="274320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148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第四级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468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企业认证级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0175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4155"/>
                </a:solidFill>
                <a:latin typeface="Calibri"/>
              </a:defRPr>
            </a:pPr>
            <a:r>
              <a:t>合规性已验证</a:t>
            </a:r>
            <a:br/>
            <a:r>
              <a:t>SLA服务承诺</a:t>
            </a:r>
            <a:br/>
            <a:r>
              <a:t>持续监控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4F46E5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参与其中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97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共同构建开源的未来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B3D"/>
                </a:solidFill>
                <a:latin typeface="Calibri"/>
              </a:defRPr>
            </a:pPr>
            <a:r>
              <a:t>如何参与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32004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32004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463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Calibri"/>
              </a:defRPr>
            </a:pPr>
            <a:r>
              <a:t>👩‍💻  开发者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构建工具和基础设施：</a:t>
            </a:r>
            <a:br/>
            <a:br/>
            <a:r>
              <a:t>• 为CELLO基准做出贡献</a:t>
            </a:r>
            <a:br/>
            <a:r>
              <a:t>• 构建安全扫描工具</a:t>
            </a:r>
            <a:br/>
            <a:r>
              <a:t>• 参与Rust迁移倡议</a:t>
            </a:r>
            <a:br/>
            <a:r>
              <a:t>• 提交AI生成的项目</a:t>
            </a:r>
            <a:br/>
            <a:r>
              <a:t>• 审核社区提交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280160"/>
            <a:ext cx="32004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280160"/>
            <a:ext cx="32004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463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Calibri"/>
              </a:defRPr>
            </a:pPr>
            <a:r>
              <a:t>🏢  企业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874519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塑造行业标准：</a:t>
            </a:r>
            <a:br/>
            <a:br/>
            <a:r>
              <a:t>• 赞助溯源标准</a:t>
            </a:r>
            <a:br/>
            <a:r>
              <a:t>• 加入治理委员会</a:t>
            </a:r>
            <a:br/>
            <a:r>
              <a:t>• 企业认证案例</a:t>
            </a:r>
            <a:br/>
            <a:r>
              <a:t>• 共建伦理框架</a:t>
            </a:r>
            <a:br/>
            <a:r>
              <a:t>• 访问认证项目等级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2004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320040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463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Calibri"/>
              </a:defRPr>
            </a:pPr>
            <a:r>
              <a:t>🔬  研究人员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874519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推进科学研究：</a:t>
            </a:r>
            <a:br/>
            <a:br/>
            <a:r>
              <a:t>• 评估方法论</a:t>
            </a:r>
            <a:br/>
            <a:r>
              <a:t>• AI漏洞模式</a:t>
            </a:r>
            <a:br/>
            <a:r>
              <a:t>• 溯源与署名</a:t>
            </a:r>
            <a:br/>
            <a:r>
              <a:t>• 通过工作组发表成果</a:t>
            </a:r>
            <a:br/>
            <a:r>
              <a:t>• 对新开源模型进行基准测试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准备好构建</a:t>
            </a:r>
            <a:br/>
            <a:r>
              <a:t>开源的未来了吗？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926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加入首个专为AI生成代码时代而创建的基金会。</a:t>
            </a:r>
            <a:br/>
            <a:r>
              <a:t>中立治理。开放标准。社区驱动。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4114800"/>
            <a:ext cx="2011680" cy="5943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0" y="4160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github.com/aosf-org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14800"/>
            <a:ext cx="2011680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4160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探索CELLO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AOSF  •  智能体开源基金会  •  创立于2026年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DE80"/>
                </a:solidFill>
                <a:latin typeface="Calibri"/>
              </a:defRPr>
            </a:pPr>
            <a:r>
              <a:t>🤖 由AI智能体构建，服务于AI生成软件——每一步都有人工监督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