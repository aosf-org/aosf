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B3D"/>
        </a:solidFill>
        <a:effectLst/>
      </p:bgPr>
    </p:bg>
    <p:spTree>
      <p:nvGrpSpPr>
        <p:cNvPr id="1" name=""/>
        <p:cNvGrpSpPr/>
        <p:nvPr/>
      </p:nvGrpSpPr>
      <p:grpSpPr/>
      <p:sp>
        <p:nvSpPr>
          <p:cNvPr id="2" name="TextBox 1"/>
          <p:cNvSpPr txBox="1"/>
          <p:nvPr/>
        </p:nvSpPr>
        <p:spPr>
          <a:xfrm>
            <a:off x="1097280" y="731520"/>
            <a:ext cx="5486400" cy="457200"/>
          </a:xfrm>
          <a:prstGeom prst="rect">
            <a:avLst/>
          </a:prstGeom>
          <a:noFill/>
        </p:spPr>
        <p:txBody>
          <a:bodyPr wrap="square">
            <a:spAutoFit/>
          </a:bodyPr>
          <a:lstStyle/>
          <a:p>
            <a:pPr algn="l">
              <a:defRPr sz="1400" b="1">
                <a:solidFill>
                  <a:srgbClr val="64748B"/>
                </a:solidFill>
                <a:latin typeface="Calibri"/>
              </a:defRPr>
            </a:pPr>
            <a:r>
              <a:t>AOSF  •  Agentic Open Source Foundation</a:t>
            </a:r>
          </a:p>
        </p:txBody>
      </p:sp>
      <p:sp>
        <p:nvSpPr>
          <p:cNvPr id="3" name="TextBox 2"/>
          <p:cNvSpPr txBox="1"/>
          <p:nvPr/>
        </p:nvSpPr>
        <p:spPr>
          <a:xfrm>
            <a:off x="1097280" y="1828800"/>
            <a:ext cx="10058400" cy="1371600"/>
          </a:xfrm>
          <a:prstGeom prst="rect">
            <a:avLst/>
          </a:prstGeom>
          <a:noFill/>
        </p:spPr>
        <p:txBody>
          <a:bodyPr wrap="square">
            <a:spAutoFit/>
          </a:bodyPr>
          <a:lstStyle/>
          <a:p>
            <a:pPr algn="l">
              <a:defRPr sz="4800" b="1">
                <a:solidFill>
                  <a:srgbClr val="FFFFFF"/>
                </a:solidFill>
                <a:latin typeface="Calibri"/>
              </a:defRPr>
            </a:pPr>
            <a:r>
              <a:t>The Agentic AI &amp;</a:t>
            </a:r>
            <a:br/>
            <a:r>
              <a:t>Vibe Coding Landscape</a:t>
            </a:r>
          </a:p>
        </p:txBody>
      </p:sp>
      <p:sp>
        <p:nvSpPr>
          <p:cNvPr id="4" name="TextBox 3"/>
          <p:cNvSpPr txBox="1"/>
          <p:nvPr/>
        </p:nvSpPr>
        <p:spPr>
          <a:xfrm>
            <a:off x="1097280" y="3657600"/>
            <a:ext cx="8229600" cy="731520"/>
          </a:xfrm>
          <a:prstGeom prst="rect">
            <a:avLst/>
          </a:prstGeom>
          <a:noFill/>
        </p:spPr>
        <p:txBody>
          <a:bodyPr wrap="square">
            <a:spAutoFit/>
          </a:bodyPr>
          <a:lstStyle/>
          <a:p>
            <a:pPr algn="l">
              <a:defRPr sz="2400" b="0">
                <a:solidFill>
                  <a:srgbClr val="60A5FA"/>
                </a:solidFill>
                <a:latin typeface="Calibri"/>
              </a:defRPr>
            </a:pPr>
            <a:r>
              <a:t>Why an Agentic Open Source Foundation Matters</a:t>
            </a:r>
          </a:p>
        </p:txBody>
      </p:sp>
      <p:sp>
        <p:nvSpPr>
          <p:cNvPr id="5" name="TextBox 4"/>
          <p:cNvSpPr txBox="1"/>
          <p:nvPr/>
        </p:nvSpPr>
        <p:spPr>
          <a:xfrm>
            <a:off x="1097280" y="4754880"/>
            <a:ext cx="5486400" cy="457200"/>
          </a:xfrm>
          <a:prstGeom prst="rect">
            <a:avLst/>
          </a:prstGeom>
          <a:noFill/>
        </p:spPr>
        <p:txBody>
          <a:bodyPr wrap="square">
            <a:spAutoFit/>
          </a:bodyPr>
          <a:lstStyle/>
          <a:p>
            <a:pPr algn="l">
              <a:defRPr sz="1600" b="0">
                <a:solidFill>
                  <a:srgbClr val="64748B"/>
                </a:solidFill>
                <a:latin typeface="Calibri"/>
              </a:defRPr>
            </a:pPr>
            <a:r>
              <a:t>Executive Briefing  •  February 2026</a:t>
            </a:r>
          </a:p>
        </p:txBody>
      </p:sp>
      <p:sp>
        <p:nvSpPr>
          <p:cNvPr id="6" name="Rectangle 5"/>
          <p:cNvSpPr/>
          <p:nvPr/>
        </p:nvSpPr>
        <p:spPr>
          <a:xfrm>
            <a:off x="1097280" y="1554480"/>
            <a:ext cx="2743200" cy="36576"/>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457200"/>
            <a:ext cx="10058400" cy="548640"/>
          </a:xfrm>
          <a:prstGeom prst="rect">
            <a:avLst/>
          </a:prstGeom>
          <a:noFill/>
        </p:spPr>
        <p:txBody>
          <a:bodyPr wrap="square">
            <a:spAutoFit/>
          </a:bodyPr>
          <a:lstStyle/>
          <a:p>
            <a:pPr algn="l">
              <a:defRPr sz="3200" b="1">
                <a:solidFill>
                  <a:srgbClr val="0F1B3D"/>
                </a:solidFill>
                <a:latin typeface="Calibri"/>
              </a:defRPr>
            </a:pPr>
            <a:r>
              <a:t>Executive Summary</a:t>
            </a:r>
          </a:p>
        </p:txBody>
      </p:sp>
      <p:sp>
        <p:nvSpPr>
          <p:cNvPr id="4" name="TextBox 3"/>
          <p:cNvSpPr txBox="1"/>
          <p:nvPr/>
        </p:nvSpPr>
        <p:spPr>
          <a:xfrm>
            <a:off x="1097280" y="1097280"/>
            <a:ext cx="9601200" cy="1097280"/>
          </a:xfrm>
          <a:prstGeom prst="rect">
            <a:avLst/>
          </a:prstGeom>
          <a:noFill/>
        </p:spPr>
        <p:txBody>
          <a:bodyPr wrap="square">
            <a:spAutoFit/>
          </a:bodyPr>
          <a:lstStyle/>
          <a:p>
            <a:pPr algn="l">
              <a:defRPr sz="1600" b="0">
                <a:solidFill>
                  <a:srgbClr val="334155"/>
                </a:solidFill>
                <a:latin typeface="Calibri"/>
              </a:defRPr>
            </a:pPr>
            <a:r>
              <a:t>Two converging forces — agentic AI and vibe coding — are fundamentally reshaping how software is written, reviewed, and deployed. By early 2026, AI agents autonomously write, test, and deploy code. Yet no foundation addresses the unique governance needs of AI-generated open source software.</a:t>
            </a:r>
          </a:p>
        </p:txBody>
      </p:sp>
      <p:sp>
        <p:nvSpPr>
          <p:cNvPr id="5" name="Rounded Rectangle 4"/>
          <p:cNvSpPr/>
          <p:nvPr/>
        </p:nvSpPr>
        <p:spPr>
          <a:xfrm>
            <a:off x="1097280" y="2560320"/>
            <a:ext cx="2286000" cy="146304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80160" y="2697480"/>
            <a:ext cx="1920240" cy="548640"/>
          </a:xfrm>
          <a:prstGeom prst="rect">
            <a:avLst/>
          </a:prstGeom>
          <a:noFill/>
        </p:spPr>
        <p:txBody>
          <a:bodyPr wrap="square">
            <a:spAutoFit/>
          </a:bodyPr>
          <a:lstStyle/>
          <a:p>
            <a:pPr algn="ctr">
              <a:defRPr sz="3200" b="1">
                <a:solidFill>
                  <a:srgbClr val="4F46E5"/>
                </a:solidFill>
                <a:latin typeface="Calibri"/>
              </a:defRPr>
            </a:pPr>
            <a:r>
              <a:t>$47–93B</a:t>
            </a:r>
          </a:p>
        </p:txBody>
      </p:sp>
      <p:sp>
        <p:nvSpPr>
          <p:cNvPr id="7" name="TextBox 6"/>
          <p:cNvSpPr txBox="1"/>
          <p:nvPr/>
        </p:nvSpPr>
        <p:spPr>
          <a:xfrm>
            <a:off x="1280160" y="3246120"/>
            <a:ext cx="1920240" cy="640080"/>
          </a:xfrm>
          <a:prstGeom prst="rect">
            <a:avLst/>
          </a:prstGeom>
          <a:noFill/>
        </p:spPr>
        <p:txBody>
          <a:bodyPr wrap="square">
            <a:spAutoFit/>
          </a:bodyPr>
          <a:lstStyle/>
          <a:p>
            <a:pPr algn="ctr">
              <a:defRPr sz="1200" b="0">
                <a:solidFill>
                  <a:srgbClr val="64748B"/>
                </a:solidFill>
                <a:latin typeface="Calibri"/>
              </a:defRPr>
            </a:pPr>
            <a:r>
              <a:t>Agentic AI market</a:t>
            </a:r>
            <a:br/>
            <a:r>
              <a:t>by 2030–2032</a:t>
            </a:r>
          </a:p>
        </p:txBody>
      </p:sp>
      <p:sp>
        <p:nvSpPr>
          <p:cNvPr id="8" name="Rounded Rectangle 7"/>
          <p:cNvSpPr/>
          <p:nvPr/>
        </p:nvSpPr>
        <p:spPr>
          <a:xfrm>
            <a:off x="3749039" y="2560320"/>
            <a:ext cx="2286000" cy="146304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931920" y="2697480"/>
            <a:ext cx="1920240" cy="548640"/>
          </a:xfrm>
          <a:prstGeom prst="rect">
            <a:avLst/>
          </a:prstGeom>
          <a:noFill/>
        </p:spPr>
        <p:txBody>
          <a:bodyPr wrap="square">
            <a:spAutoFit/>
          </a:bodyPr>
          <a:lstStyle/>
          <a:p>
            <a:pPr algn="ctr">
              <a:defRPr sz="3200" b="1">
                <a:solidFill>
                  <a:srgbClr val="4F46E5"/>
                </a:solidFill>
                <a:latin typeface="Calibri"/>
              </a:defRPr>
            </a:pPr>
            <a:r>
              <a:t>45%</a:t>
            </a:r>
          </a:p>
        </p:txBody>
      </p:sp>
      <p:sp>
        <p:nvSpPr>
          <p:cNvPr id="10" name="TextBox 9"/>
          <p:cNvSpPr txBox="1"/>
          <p:nvPr/>
        </p:nvSpPr>
        <p:spPr>
          <a:xfrm>
            <a:off x="3931920" y="3246120"/>
            <a:ext cx="1920240" cy="640080"/>
          </a:xfrm>
          <a:prstGeom prst="rect">
            <a:avLst/>
          </a:prstGeom>
          <a:noFill/>
        </p:spPr>
        <p:txBody>
          <a:bodyPr wrap="square">
            <a:spAutoFit/>
          </a:bodyPr>
          <a:lstStyle/>
          <a:p>
            <a:pPr algn="ctr">
              <a:defRPr sz="1200" b="0">
                <a:solidFill>
                  <a:srgbClr val="64748B"/>
                </a:solidFill>
                <a:latin typeface="Calibri"/>
              </a:defRPr>
            </a:pPr>
            <a:r>
              <a:t>AI-generated code</a:t>
            </a:r>
            <a:br/>
            <a:r>
              <a:t>has vulnerabilities</a:t>
            </a:r>
          </a:p>
        </p:txBody>
      </p:sp>
      <p:sp>
        <p:nvSpPr>
          <p:cNvPr id="11" name="Rounded Rectangle 10"/>
          <p:cNvSpPr/>
          <p:nvPr/>
        </p:nvSpPr>
        <p:spPr>
          <a:xfrm>
            <a:off x="6400800" y="2560320"/>
            <a:ext cx="2286000" cy="146304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0" y="2697480"/>
            <a:ext cx="1920240" cy="548640"/>
          </a:xfrm>
          <a:prstGeom prst="rect">
            <a:avLst/>
          </a:prstGeom>
          <a:noFill/>
        </p:spPr>
        <p:txBody>
          <a:bodyPr wrap="square">
            <a:spAutoFit/>
          </a:bodyPr>
          <a:lstStyle/>
          <a:p>
            <a:pPr algn="ctr">
              <a:defRPr sz="3200" b="1">
                <a:solidFill>
                  <a:srgbClr val="4F46E5"/>
                </a:solidFill>
                <a:latin typeface="Calibri"/>
              </a:defRPr>
            </a:pPr>
            <a:r>
              <a:t>60K+</a:t>
            </a:r>
          </a:p>
        </p:txBody>
      </p:sp>
      <p:sp>
        <p:nvSpPr>
          <p:cNvPr id="13" name="TextBox 12"/>
          <p:cNvSpPr txBox="1"/>
          <p:nvPr/>
        </p:nvSpPr>
        <p:spPr>
          <a:xfrm>
            <a:off x="6583680" y="3246120"/>
            <a:ext cx="1920240" cy="640080"/>
          </a:xfrm>
          <a:prstGeom prst="rect">
            <a:avLst/>
          </a:prstGeom>
          <a:noFill/>
        </p:spPr>
        <p:txBody>
          <a:bodyPr wrap="square">
            <a:spAutoFit/>
          </a:bodyPr>
          <a:lstStyle/>
          <a:p>
            <a:pPr algn="ctr">
              <a:defRPr sz="1200" b="0">
                <a:solidFill>
                  <a:srgbClr val="64748B"/>
                </a:solidFill>
                <a:latin typeface="Calibri"/>
              </a:defRPr>
            </a:pPr>
            <a:r>
              <a:t>Projects with</a:t>
            </a:r>
            <a:br/>
            <a:r>
              <a:t>AGENTS.md</a:t>
            </a:r>
          </a:p>
        </p:txBody>
      </p:sp>
      <p:sp>
        <p:nvSpPr>
          <p:cNvPr id="14" name="Rounded Rectangle 13"/>
          <p:cNvSpPr/>
          <p:nvPr/>
        </p:nvSpPr>
        <p:spPr>
          <a:xfrm>
            <a:off x="9052559" y="2560320"/>
            <a:ext cx="2286000" cy="146304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235439" y="2697480"/>
            <a:ext cx="1920240" cy="548640"/>
          </a:xfrm>
          <a:prstGeom prst="rect">
            <a:avLst/>
          </a:prstGeom>
          <a:noFill/>
        </p:spPr>
        <p:txBody>
          <a:bodyPr wrap="square">
            <a:spAutoFit/>
          </a:bodyPr>
          <a:lstStyle/>
          <a:p>
            <a:pPr algn="ctr">
              <a:defRPr sz="3200" b="1">
                <a:solidFill>
                  <a:srgbClr val="4F46E5"/>
                </a:solidFill>
                <a:latin typeface="Calibri"/>
              </a:defRPr>
            </a:pPr>
            <a:r>
              <a:t>1B+</a:t>
            </a:r>
          </a:p>
        </p:txBody>
      </p:sp>
      <p:sp>
        <p:nvSpPr>
          <p:cNvPr id="16" name="TextBox 15"/>
          <p:cNvSpPr txBox="1"/>
          <p:nvPr/>
        </p:nvSpPr>
        <p:spPr>
          <a:xfrm>
            <a:off x="9235439" y="3246120"/>
            <a:ext cx="1920240" cy="640080"/>
          </a:xfrm>
          <a:prstGeom prst="rect">
            <a:avLst/>
          </a:prstGeom>
          <a:noFill/>
        </p:spPr>
        <p:txBody>
          <a:bodyPr wrap="square">
            <a:spAutoFit/>
          </a:bodyPr>
          <a:lstStyle/>
          <a:p>
            <a:pPr algn="ctr">
              <a:defRPr sz="1200" b="0">
                <a:solidFill>
                  <a:srgbClr val="64748B"/>
                </a:solidFill>
                <a:latin typeface="Calibri"/>
              </a:defRPr>
            </a:pPr>
            <a:r>
              <a:t>Lines of C/C++</a:t>
            </a:r>
            <a:br/>
            <a:r>
              <a:t>to rewrite</a:t>
            </a:r>
          </a:p>
        </p:txBody>
      </p:sp>
      <p:sp>
        <p:nvSpPr>
          <p:cNvPr id="17" name="TextBox 16"/>
          <p:cNvSpPr txBox="1"/>
          <p:nvPr/>
        </p:nvSpPr>
        <p:spPr>
          <a:xfrm>
            <a:off x="1097280" y="4389120"/>
            <a:ext cx="9601200" cy="1371600"/>
          </a:xfrm>
          <a:prstGeom prst="rect">
            <a:avLst/>
          </a:prstGeom>
          <a:noFill/>
        </p:spPr>
        <p:txBody>
          <a:bodyPr wrap="square">
            <a:spAutoFit/>
          </a:bodyPr>
          <a:lstStyle/>
          <a:p>
            <a:pPr algn="l">
              <a:defRPr sz="1500" b="0">
                <a:solidFill>
                  <a:srgbClr val="334155"/>
                </a:solidFill>
                <a:latin typeface="Calibri"/>
              </a:defRPr>
            </a:pPr>
            <a:r>
              <a:t>The Agentic Open Source Foundation (AOSF) fills this gap — providing agentic-native governance for the vibe coding era. Not competing with existing foundations, but complementing them with AI code quality validation, security assurance, provenance tracking, and fair model evaluation.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B3D"/>
        </a:solidFill>
        <a:effectLst/>
      </p:bgPr>
    </p:bg>
    <p:spTree>
      <p:nvGrpSpPr>
        <p:cNvPr id="1" name=""/>
        <p:cNvGrpSpPr/>
        <p:nvPr/>
      </p:nvGrpSpPr>
      <p:grpSpPr/>
      <p:sp>
        <p:nvSpPr>
          <p:cNvPr id="2" name="TextBox 1"/>
          <p:cNvSpPr txBox="1"/>
          <p:nvPr/>
        </p:nvSpPr>
        <p:spPr>
          <a:xfrm>
            <a:off x="1097280" y="2286000"/>
            <a:ext cx="10058400" cy="914400"/>
          </a:xfrm>
          <a:prstGeom prst="rect">
            <a:avLst/>
          </a:prstGeom>
          <a:noFill/>
        </p:spPr>
        <p:txBody>
          <a:bodyPr wrap="square">
            <a:spAutoFit/>
          </a:bodyPr>
          <a:lstStyle/>
          <a:p>
            <a:pPr algn="l">
              <a:defRPr sz="7200" b="1">
                <a:solidFill>
                  <a:srgbClr val="4F46E5"/>
                </a:solidFill>
                <a:latin typeface="Calibri"/>
              </a:defRPr>
            </a:pPr>
            <a:r>
              <a:t>01</a:t>
            </a:r>
          </a:p>
        </p:txBody>
      </p:sp>
      <p:sp>
        <p:nvSpPr>
          <p:cNvPr id="3" name="TextBox 2"/>
          <p:cNvSpPr txBox="1"/>
          <p:nvPr/>
        </p:nvSpPr>
        <p:spPr>
          <a:xfrm>
            <a:off x="1097280" y="3474720"/>
            <a:ext cx="10058400" cy="914400"/>
          </a:xfrm>
          <a:prstGeom prst="rect">
            <a:avLst/>
          </a:prstGeom>
          <a:noFill/>
        </p:spPr>
        <p:txBody>
          <a:bodyPr wrap="square">
            <a:spAutoFit/>
          </a:bodyPr>
          <a:lstStyle/>
          <a:p>
            <a:pPr algn="l">
              <a:defRPr sz="4000" b="1">
                <a:solidFill>
                  <a:srgbClr val="FFFFFF"/>
                </a:solidFill>
                <a:latin typeface="Calibri"/>
              </a:defRPr>
            </a:pPr>
            <a:r>
              <a:t>The Agentic AI Landscape</a:t>
            </a:r>
          </a:p>
        </p:txBody>
      </p:sp>
      <p:sp>
        <p:nvSpPr>
          <p:cNvPr id="4" name="TextBox 3"/>
          <p:cNvSpPr txBox="1"/>
          <p:nvPr/>
        </p:nvSpPr>
        <p:spPr>
          <a:xfrm>
            <a:off x="1097280" y="4297680"/>
            <a:ext cx="8229600" cy="731520"/>
          </a:xfrm>
          <a:prstGeom prst="rect">
            <a:avLst/>
          </a:prstGeom>
          <a:noFill/>
        </p:spPr>
        <p:txBody>
          <a:bodyPr wrap="square">
            <a:spAutoFit/>
          </a:bodyPr>
          <a:lstStyle/>
          <a:p>
            <a:pPr algn="l">
              <a:defRPr sz="1800" b="0">
                <a:solidFill>
                  <a:srgbClr val="64748B"/>
                </a:solidFill>
                <a:latin typeface="Calibri"/>
              </a:defRPr>
            </a:pPr>
            <a:r>
              <a:t>Autonomous systems reshaping software development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457200"/>
            <a:ext cx="10058400" cy="548640"/>
          </a:xfrm>
          <a:prstGeom prst="rect">
            <a:avLst/>
          </a:prstGeom>
          <a:noFill/>
        </p:spPr>
        <p:txBody>
          <a:bodyPr wrap="square">
            <a:spAutoFit/>
          </a:bodyPr>
          <a:lstStyle/>
          <a:p>
            <a:pPr algn="l">
              <a:defRPr sz="3200" b="1">
                <a:solidFill>
                  <a:srgbClr val="0F1B3D"/>
                </a:solidFill>
                <a:latin typeface="Calibri"/>
              </a:defRPr>
            </a:pPr>
            <a:r>
              <a:t>What Is Agentic AI?</a:t>
            </a:r>
          </a:p>
        </p:txBody>
      </p:sp>
      <p:sp>
        <p:nvSpPr>
          <p:cNvPr id="4" name="TextBox 3"/>
          <p:cNvSpPr txBox="1"/>
          <p:nvPr/>
        </p:nvSpPr>
        <p:spPr>
          <a:xfrm>
            <a:off x="1097280" y="1097280"/>
            <a:ext cx="9601200" cy="731520"/>
          </a:xfrm>
          <a:prstGeom prst="rect">
            <a:avLst/>
          </a:prstGeom>
          <a:noFill/>
        </p:spPr>
        <p:txBody>
          <a:bodyPr wrap="square">
            <a:spAutoFit/>
          </a:bodyPr>
          <a:lstStyle/>
          <a:p>
            <a:pPr algn="l">
              <a:defRPr sz="1600" b="0">
                <a:solidFill>
                  <a:srgbClr val="334155"/>
                </a:solidFill>
                <a:latin typeface="Calibri"/>
              </a:defRPr>
            </a:pPr>
            <a:r>
              <a:t>AI systems capable of autonomous action — pursuing complex goals, planning multi-step workflows, and interacting with tools and external systems without direct human intervention.</a:t>
            </a:r>
          </a:p>
        </p:txBody>
      </p:sp>
      <p:sp>
        <p:nvSpPr>
          <p:cNvPr id="5" name="Rounded Rectangle 4"/>
          <p:cNvSpPr/>
          <p:nvPr/>
        </p:nvSpPr>
        <p:spPr>
          <a:xfrm>
            <a:off x="1097280" y="2286000"/>
            <a:ext cx="3108960" cy="15544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097280" y="2286000"/>
            <a:ext cx="3108960" cy="4572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25880" y="2468880"/>
            <a:ext cx="2651760" cy="365760"/>
          </a:xfrm>
          <a:prstGeom prst="rect">
            <a:avLst/>
          </a:prstGeom>
          <a:noFill/>
        </p:spPr>
        <p:txBody>
          <a:bodyPr wrap="square">
            <a:spAutoFit/>
          </a:bodyPr>
          <a:lstStyle/>
          <a:p>
            <a:pPr algn="l">
              <a:defRPr sz="1500" b="1">
                <a:solidFill>
                  <a:srgbClr val="4F46E5"/>
                </a:solidFill>
                <a:latin typeface="Calibri"/>
              </a:defRPr>
            </a:pPr>
            <a:r>
              <a:t>🎯  Goal Pursuit</a:t>
            </a:r>
          </a:p>
        </p:txBody>
      </p:sp>
      <p:sp>
        <p:nvSpPr>
          <p:cNvPr id="8" name="TextBox 7"/>
          <p:cNvSpPr txBox="1"/>
          <p:nvPr/>
        </p:nvSpPr>
        <p:spPr>
          <a:xfrm>
            <a:off x="1325880" y="2880360"/>
            <a:ext cx="2651760" cy="822959"/>
          </a:xfrm>
          <a:prstGeom prst="rect">
            <a:avLst/>
          </a:prstGeom>
          <a:noFill/>
        </p:spPr>
        <p:txBody>
          <a:bodyPr wrap="square">
            <a:spAutoFit/>
          </a:bodyPr>
          <a:lstStyle/>
          <a:p>
            <a:pPr algn="l">
              <a:defRPr sz="1200" b="0">
                <a:solidFill>
                  <a:srgbClr val="64748B"/>
                </a:solidFill>
                <a:latin typeface="Calibri"/>
              </a:defRPr>
            </a:pPr>
            <a:r>
              <a:t>Independently pursue complex objectives, set sub-goals, and iterate</a:t>
            </a:r>
          </a:p>
        </p:txBody>
      </p:sp>
      <p:sp>
        <p:nvSpPr>
          <p:cNvPr id="9" name="Rounded Rectangle 8"/>
          <p:cNvSpPr/>
          <p:nvPr/>
        </p:nvSpPr>
        <p:spPr>
          <a:xfrm>
            <a:off x="4526280" y="2286000"/>
            <a:ext cx="3108960" cy="15544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26280" y="2286000"/>
            <a:ext cx="3108960" cy="4572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754880" y="2468880"/>
            <a:ext cx="2651760" cy="365760"/>
          </a:xfrm>
          <a:prstGeom prst="rect">
            <a:avLst/>
          </a:prstGeom>
          <a:noFill/>
        </p:spPr>
        <p:txBody>
          <a:bodyPr wrap="square">
            <a:spAutoFit/>
          </a:bodyPr>
          <a:lstStyle/>
          <a:p>
            <a:pPr algn="l">
              <a:defRPr sz="1500" b="1">
                <a:solidFill>
                  <a:srgbClr val="7C3AED"/>
                </a:solidFill>
                <a:latin typeface="Calibri"/>
              </a:defRPr>
            </a:pPr>
            <a:r>
              <a:t>🧠  Planning &amp; Reasoning</a:t>
            </a:r>
          </a:p>
        </p:txBody>
      </p:sp>
      <p:sp>
        <p:nvSpPr>
          <p:cNvPr id="12" name="TextBox 11"/>
          <p:cNvSpPr txBox="1"/>
          <p:nvPr/>
        </p:nvSpPr>
        <p:spPr>
          <a:xfrm>
            <a:off x="4754880" y="2880360"/>
            <a:ext cx="2651760" cy="822959"/>
          </a:xfrm>
          <a:prstGeom prst="rect">
            <a:avLst/>
          </a:prstGeom>
          <a:noFill/>
        </p:spPr>
        <p:txBody>
          <a:bodyPr wrap="square">
            <a:spAutoFit/>
          </a:bodyPr>
          <a:lstStyle/>
          <a:p>
            <a:pPr algn="l">
              <a:defRPr sz="1200" b="0">
                <a:solidFill>
                  <a:srgbClr val="64748B"/>
                </a:solidFill>
                <a:latin typeface="Calibri"/>
              </a:defRPr>
            </a:pPr>
            <a:r>
              <a:t>Multi-step planning with real-time strategy adaptation</a:t>
            </a:r>
          </a:p>
        </p:txBody>
      </p:sp>
      <p:sp>
        <p:nvSpPr>
          <p:cNvPr id="13" name="Rounded Rectangle 12"/>
          <p:cNvSpPr/>
          <p:nvPr/>
        </p:nvSpPr>
        <p:spPr>
          <a:xfrm>
            <a:off x="7955279" y="2286000"/>
            <a:ext cx="3108960" cy="15544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55279" y="2286000"/>
            <a:ext cx="3108960" cy="457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83879" y="2468880"/>
            <a:ext cx="2651760" cy="365760"/>
          </a:xfrm>
          <a:prstGeom prst="rect">
            <a:avLst/>
          </a:prstGeom>
          <a:noFill/>
        </p:spPr>
        <p:txBody>
          <a:bodyPr wrap="square">
            <a:spAutoFit/>
          </a:bodyPr>
          <a:lstStyle/>
          <a:p>
            <a:pPr algn="l">
              <a:defRPr sz="1500" b="1">
                <a:solidFill>
                  <a:srgbClr val="2563EB"/>
                </a:solidFill>
                <a:latin typeface="Calibri"/>
              </a:defRPr>
            </a:pPr>
            <a:r>
              <a:t>🔧  Tool Use</a:t>
            </a:r>
          </a:p>
        </p:txBody>
      </p:sp>
      <p:sp>
        <p:nvSpPr>
          <p:cNvPr id="16" name="TextBox 15"/>
          <p:cNvSpPr txBox="1"/>
          <p:nvPr/>
        </p:nvSpPr>
        <p:spPr>
          <a:xfrm>
            <a:off x="8183879" y="2880360"/>
            <a:ext cx="2651760" cy="822959"/>
          </a:xfrm>
          <a:prstGeom prst="rect">
            <a:avLst/>
          </a:prstGeom>
          <a:noFill/>
        </p:spPr>
        <p:txBody>
          <a:bodyPr wrap="square">
            <a:spAutoFit/>
          </a:bodyPr>
          <a:lstStyle/>
          <a:p>
            <a:pPr algn="l">
              <a:defRPr sz="1200" b="0">
                <a:solidFill>
                  <a:srgbClr val="64748B"/>
                </a:solidFill>
                <a:latin typeface="Calibri"/>
              </a:defRPr>
            </a:pPr>
            <a:r>
              <a:t>Interact with APIs, databases, code editors, and external systems</a:t>
            </a:r>
          </a:p>
        </p:txBody>
      </p:sp>
      <p:sp>
        <p:nvSpPr>
          <p:cNvPr id="17" name="Rounded Rectangle 16"/>
          <p:cNvSpPr/>
          <p:nvPr/>
        </p:nvSpPr>
        <p:spPr>
          <a:xfrm>
            <a:off x="1097280" y="4114800"/>
            <a:ext cx="3108960" cy="15544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097280" y="4114800"/>
            <a:ext cx="3108960" cy="45720"/>
          </a:xfrm>
          <a:prstGeom prst="rect">
            <a:avLst/>
          </a:prstGeom>
          <a:solidFill>
            <a:srgbClr val="0891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325880" y="4297680"/>
            <a:ext cx="2651760" cy="365760"/>
          </a:xfrm>
          <a:prstGeom prst="rect">
            <a:avLst/>
          </a:prstGeom>
          <a:noFill/>
        </p:spPr>
        <p:txBody>
          <a:bodyPr wrap="square">
            <a:spAutoFit/>
          </a:bodyPr>
          <a:lstStyle/>
          <a:p>
            <a:pPr algn="l">
              <a:defRPr sz="1500" b="1">
                <a:solidFill>
                  <a:srgbClr val="0891B2"/>
                </a:solidFill>
                <a:latin typeface="Calibri"/>
              </a:defRPr>
            </a:pPr>
            <a:r>
              <a:t>🔄  Self-Correction</a:t>
            </a:r>
          </a:p>
        </p:txBody>
      </p:sp>
      <p:sp>
        <p:nvSpPr>
          <p:cNvPr id="20" name="TextBox 19"/>
          <p:cNvSpPr txBox="1"/>
          <p:nvPr/>
        </p:nvSpPr>
        <p:spPr>
          <a:xfrm>
            <a:off x="1325880" y="4709160"/>
            <a:ext cx="2651760" cy="822959"/>
          </a:xfrm>
          <a:prstGeom prst="rect">
            <a:avLst/>
          </a:prstGeom>
          <a:noFill/>
        </p:spPr>
        <p:txBody>
          <a:bodyPr wrap="square">
            <a:spAutoFit/>
          </a:bodyPr>
          <a:lstStyle/>
          <a:p>
            <a:pPr algn="l">
              <a:defRPr sz="1200" b="0">
                <a:solidFill>
                  <a:srgbClr val="64748B"/>
                </a:solidFill>
                <a:latin typeface="Calibri"/>
              </a:defRPr>
            </a:pPr>
            <a:r>
              <a:t>Learn from errors and feedback to improve outputs</a:t>
            </a:r>
          </a:p>
        </p:txBody>
      </p:sp>
      <p:sp>
        <p:nvSpPr>
          <p:cNvPr id="21" name="Rounded Rectangle 20"/>
          <p:cNvSpPr/>
          <p:nvPr/>
        </p:nvSpPr>
        <p:spPr>
          <a:xfrm>
            <a:off x="4526280" y="4114800"/>
            <a:ext cx="3108960" cy="15544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526280" y="4114800"/>
            <a:ext cx="3108960" cy="4572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754880" y="4297680"/>
            <a:ext cx="2651760" cy="365760"/>
          </a:xfrm>
          <a:prstGeom prst="rect">
            <a:avLst/>
          </a:prstGeom>
          <a:noFill/>
        </p:spPr>
        <p:txBody>
          <a:bodyPr wrap="square">
            <a:spAutoFit/>
          </a:bodyPr>
          <a:lstStyle/>
          <a:p>
            <a:pPr algn="l">
              <a:defRPr sz="1500" b="1">
                <a:solidFill>
                  <a:srgbClr val="059669"/>
                </a:solidFill>
                <a:latin typeface="Calibri"/>
              </a:defRPr>
            </a:pPr>
            <a:r>
              <a:t>👥  Multi-Agent</a:t>
            </a:r>
          </a:p>
        </p:txBody>
      </p:sp>
      <p:sp>
        <p:nvSpPr>
          <p:cNvPr id="24" name="TextBox 23"/>
          <p:cNvSpPr txBox="1"/>
          <p:nvPr/>
        </p:nvSpPr>
        <p:spPr>
          <a:xfrm>
            <a:off x="4754880" y="4709160"/>
            <a:ext cx="2651760" cy="822959"/>
          </a:xfrm>
          <a:prstGeom prst="rect">
            <a:avLst/>
          </a:prstGeom>
          <a:noFill/>
        </p:spPr>
        <p:txBody>
          <a:bodyPr wrap="square">
            <a:spAutoFit/>
          </a:bodyPr>
          <a:lstStyle/>
          <a:p>
            <a:pPr algn="l">
              <a:defRPr sz="1200" b="0">
                <a:solidFill>
                  <a:srgbClr val="64748B"/>
                </a:solidFill>
                <a:latin typeface="Calibri"/>
              </a:defRPr>
            </a:pPr>
            <a:r>
              <a:t>Orchestrate teams of specialized agents for complex tasks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457200"/>
            <a:ext cx="10058400" cy="548640"/>
          </a:xfrm>
          <a:prstGeom prst="rect">
            <a:avLst/>
          </a:prstGeom>
          <a:noFill/>
        </p:spPr>
        <p:txBody>
          <a:bodyPr wrap="square">
            <a:spAutoFit/>
          </a:bodyPr>
          <a:lstStyle/>
          <a:p>
            <a:pPr algn="l">
              <a:defRPr sz="3200" b="1">
                <a:solidFill>
                  <a:srgbClr val="0F1B3D"/>
                </a:solidFill>
                <a:latin typeface="Calibri"/>
              </a:defRPr>
            </a:pPr>
            <a:r>
              <a:t>Key Players in Agentic AI</a:t>
            </a:r>
          </a:p>
        </p:txBody>
      </p:sp>
      <p:sp>
        <p:nvSpPr>
          <p:cNvPr id="4" name="Rounded Rectangle 3"/>
          <p:cNvSpPr/>
          <p:nvPr/>
        </p:nvSpPr>
        <p:spPr>
          <a:xfrm>
            <a:off x="1097280" y="1280160"/>
            <a:ext cx="3108960" cy="18288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097280" y="1280160"/>
            <a:ext cx="3108960" cy="4572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325880" y="1463039"/>
            <a:ext cx="2651760" cy="365760"/>
          </a:xfrm>
          <a:prstGeom prst="rect">
            <a:avLst/>
          </a:prstGeom>
          <a:noFill/>
        </p:spPr>
        <p:txBody>
          <a:bodyPr wrap="square">
            <a:spAutoFit/>
          </a:bodyPr>
          <a:lstStyle/>
          <a:p>
            <a:pPr algn="l">
              <a:defRPr sz="1500" b="1">
                <a:solidFill>
                  <a:srgbClr val="4F46E5"/>
                </a:solidFill>
                <a:latin typeface="Calibri"/>
              </a:defRPr>
            </a:pPr>
            <a:r>
              <a:t>Anthropic</a:t>
            </a:r>
          </a:p>
        </p:txBody>
      </p:sp>
      <p:sp>
        <p:nvSpPr>
          <p:cNvPr id="7" name="TextBox 6"/>
          <p:cNvSpPr txBox="1"/>
          <p:nvPr/>
        </p:nvSpPr>
        <p:spPr>
          <a:xfrm>
            <a:off x="1325880" y="1874519"/>
            <a:ext cx="2651760" cy="1097280"/>
          </a:xfrm>
          <a:prstGeom prst="rect">
            <a:avLst/>
          </a:prstGeom>
          <a:noFill/>
        </p:spPr>
        <p:txBody>
          <a:bodyPr wrap="square">
            <a:spAutoFit/>
          </a:bodyPr>
          <a:lstStyle/>
          <a:p>
            <a:pPr algn="l">
              <a:defRPr sz="1200" b="0">
                <a:solidFill>
                  <a:srgbClr val="64748B"/>
                </a:solidFill>
                <a:latin typeface="Calibri"/>
              </a:defRPr>
            </a:pPr>
            <a:r>
              <a:t>Claude Code, MCP protocol creator</a:t>
            </a:r>
            <a:br/>
            <a:r>
              <a:t>Model Context Protocol standard</a:t>
            </a:r>
          </a:p>
        </p:txBody>
      </p:sp>
      <p:sp>
        <p:nvSpPr>
          <p:cNvPr id="8" name="Rounded Rectangle 7"/>
          <p:cNvSpPr/>
          <p:nvPr/>
        </p:nvSpPr>
        <p:spPr>
          <a:xfrm>
            <a:off x="4526280" y="1280160"/>
            <a:ext cx="3108960" cy="18288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26280" y="1280160"/>
            <a:ext cx="3108960" cy="457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0" y="1463039"/>
            <a:ext cx="2651760" cy="365760"/>
          </a:xfrm>
          <a:prstGeom prst="rect">
            <a:avLst/>
          </a:prstGeom>
          <a:noFill/>
        </p:spPr>
        <p:txBody>
          <a:bodyPr wrap="square">
            <a:spAutoFit/>
          </a:bodyPr>
          <a:lstStyle/>
          <a:p>
            <a:pPr algn="l">
              <a:defRPr sz="1500" b="1">
                <a:solidFill>
                  <a:srgbClr val="2563EB"/>
                </a:solidFill>
                <a:latin typeface="Calibri"/>
              </a:defRPr>
            </a:pPr>
            <a:r>
              <a:t>Google</a:t>
            </a:r>
          </a:p>
        </p:txBody>
      </p:sp>
      <p:sp>
        <p:nvSpPr>
          <p:cNvPr id="11" name="TextBox 10"/>
          <p:cNvSpPr txBox="1"/>
          <p:nvPr/>
        </p:nvSpPr>
        <p:spPr>
          <a:xfrm>
            <a:off x="4754880" y="1874519"/>
            <a:ext cx="2651760" cy="1097280"/>
          </a:xfrm>
          <a:prstGeom prst="rect">
            <a:avLst/>
          </a:prstGeom>
          <a:noFill/>
        </p:spPr>
        <p:txBody>
          <a:bodyPr wrap="square">
            <a:spAutoFit/>
          </a:bodyPr>
          <a:lstStyle/>
          <a:p>
            <a:pPr algn="l">
              <a:defRPr sz="1200" b="0">
                <a:solidFill>
                  <a:srgbClr val="64748B"/>
                </a:solidFill>
                <a:latin typeface="Calibri"/>
              </a:defRPr>
            </a:pPr>
            <a:r>
              <a:t>A2A protocol, Agent Development Kit</a:t>
            </a:r>
            <a:br/>
            <a:r>
              <a:t>Donated A2A to Linux Foundation</a:t>
            </a:r>
          </a:p>
        </p:txBody>
      </p:sp>
      <p:sp>
        <p:nvSpPr>
          <p:cNvPr id="12" name="Rounded Rectangle 11"/>
          <p:cNvSpPr/>
          <p:nvPr/>
        </p:nvSpPr>
        <p:spPr>
          <a:xfrm>
            <a:off x="7955279" y="1280160"/>
            <a:ext cx="3108960" cy="18288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955279" y="1280160"/>
            <a:ext cx="3108960" cy="4572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183879" y="1463039"/>
            <a:ext cx="2651760" cy="365760"/>
          </a:xfrm>
          <a:prstGeom prst="rect">
            <a:avLst/>
          </a:prstGeom>
          <a:noFill/>
        </p:spPr>
        <p:txBody>
          <a:bodyPr wrap="square">
            <a:spAutoFit/>
          </a:bodyPr>
          <a:lstStyle/>
          <a:p>
            <a:pPr algn="l">
              <a:defRPr sz="1500" b="1">
                <a:solidFill>
                  <a:srgbClr val="7C3AED"/>
                </a:solidFill>
                <a:latin typeface="Calibri"/>
              </a:defRPr>
            </a:pPr>
            <a:r>
              <a:t>Microsoft</a:t>
            </a:r>
          </a:p>
        </p:txBody>
      </p:sp>
      <p:sp>
        <p:nvSpPr>
          <p:cNvPr id="15" name="TextBox 14"/>
          <p:cNvSpPr txBox="1"/>
          <p:nvPr/>
        </p:nvSpPr>
        <p:spPr>
          <a:xfrm>
            <a:off x="8183879" y="1874519"/>
            <a:ext cx="2651760" cy="1097280"/>
          </a:xfrm>
          <a:prstGeom prst="rect">
            <a:avLst/>
          </a:prstGeom>
          <a:noFill/>
        </p:spPr>
        <p:txBody>
          <a:bodyPr wrap="square">
            <a:spAutoFit/>
          </a:bodyPr>
          <a:lstStyle/>
          <a:p>
            <a:pPr algn="l">
              <a:defRPr sz="1200" b="0">
                <a:solidFill>
                  <a:srgbClr val="64748B"/>
                </a:solidFill>
                <a:latin typeface="Calibri"/>
              </a:defRPr>
            </a:pPr>
            <a:r>
              <a:t>AutoGen framework, GitHub Copilot</a:t>
            </a:r>
            <a:br/>
            <a:r>
              <a:t>Event-driven multi-agent systems</a:t>
            </a:r>
          </a:p>
        </p:txBody>
      </p:sp>
      <p:sp>
        <p:nvSpPr>
          <p:cNvPr id="16" name="Rounded Rectangle 15"/>
          <p:cNvSpPr/>
          <p:nvPr/>
        </p:nvSpPr>
        <p:spPr>
          <a:xfrm>
            <a:off x="1097280" y="3383279"/>
            <a:ext cx="3108960" cy="18288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097280" y="3383279"/>
            <a:ext cx="3108960" cy="4572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325880" y="3566160"/>
            <a:ext cx="2651760" cy="365760"/>
          </a:xfrm>
          <a:prstGeom prst="rect">
            <a:avLst/>
          </a:prstGeom>
          <a:noFill/>
        </p:spPr>
        <p:txBody>
          <a:bodyPr wrap="square">
            <a:spAutoFit/>
          </a:bodyPr>
          <a:lstStyle/>
          <a:p>
            <a:pPr algn="l">
              <a:defRPr sz="1500" b="1">
                <a:solidFill>
                  <a:srgbClr val="059669"/>
                </a:solidFill>
                <a:latin typeface="Calibri"/>
              </a:defRPr>
            </a:pPr>
            <a:r>
              <a:t>OpenAI</a:t>
            </a:r>
          </a:p>
        </p:txBody>
      </p:sp>
      <p:sp>
        <p:nvSpPr>
          <p:cNvPr id="19" name="TextBox 18"/>
          <p:cNvSpPr txBox="1"/>
          <p:nvPr/>
        </p:nvSpPr>
        <p:spPr>
          <a:xfrm>
            <a:off x="1325880" y="3977639"/>
            <a:ext cx="2651760" cy="1097280"/>
          </a:xfrm>
          <a:prstGeom prst="rect">
            <a:avLst/>
          </a:prstGeom>
          <a:noFill/>
        </p:spPr>
        <p:txBody>
          <a:bodyPr wrap="square">
            <a:spAutoFit/>
          </a:bodyPr>
          <a:lstStyle/>
          <a:p>
            <a:pPr algn="l">
              <a:defRPr sz="1200" b="0">
                <a:solidFill>
                  <a:srgbClr val="64748B"/>
                </a:solidFill>
                <a:latin typeface="Calibri"/>
              </a:defRPr>
            </a:pPr>
            <a:r>
              <a:t>Codex, Operator, ChatGPT agents</a:t>
            </a:r>
            <a:br/>
            <a:r>
              <a:t>Planning &amp; reasoning capabilities</a:t>
            </a:r>
          </a:p>
        </p:txBody>
      </p:sp>
      <p:sp>
        <p:nvSpPr>
          <p:cNvPr id="20" name="Rounded Rectangle 19"/>
          <p:cNvSpPr/>
          <p:nvPr/>
        </p:nvSpPr>
        <p:spPr>
          <a:xfrm>
            <a:off x="4526280" y="3383279"/>
            <a:ext cx="3108960" cy="18288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526280" y="3383279"/>
            <a:ext cx="3108960" cy="4572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754880" y="3566160"/>
            <a:ext cx="2651760" cy="365760"/>
          </a:xfrm>
          <a:prstGeom prst="rect">
            <a:avLst/>
          </a:prstGeom>
          <a:noFill/>
        </p:spPr>
        <p:txBody>
          <a:bodyPr wrap="square">
            <a:spAutoFit/>
          </a:bodyPr>
          <a:lstStyle/>
          <a:p>
            <a:pPr algn="l">
              <a:defRPr sz="1500" b="1">
                <a:solidFill>
                  <a:srgbClr val="D97706"/>
                </a:solidFill>
                <a:latin typeface="Calibri"/>
              </a:defRPr>
            </a:pPr>
            <a:r>
              <a:t>Meta</a:t>
            </a:r>
          </a:p>
        </p:txBody>
      </p:sp>
      <p:sp>
        <p:nvSpPr>
          <p:cNvPr id="23" name="TextBox 22"/>
          <p:cNvSpPr txBox="1"/>
          <p:nvPr/>
        </p:nvSpPr>
        <p:spPr>
          <a:xfrm>
            <a:off x="4754880" y="3977639"/>
            <a:ext cx="2651760" cy="1097280"/>
          </a:xfrm>
          <a:prstGeom prst="rect">
            <a:avLst/>
          </a:prstGeom>
          <a:noFill/>
        </p:spPr>
        <p:txBody>
          <a:bodyPr wrap="square">
            <a:spAutoFit/>
          </a:bodyPr>
          <a:lstStyle/>
          <a:p>
            <a:pPr algn="l">
              <a:defRPr sz="1200" b="0">
                <a:solidFill>
                  <a:srgbClr val="64748B"/>
                </a:solidFill>
                <a:latin typeface="Calibri"/>
              </a:defRPr>
            </a:pPr>
            <a:r>
              <a:t>LLaMA open models, CodeLlama</a:t>
            </a:r>
            <a:br/>
            <a:r>
              <a:t>Open-weight model ecosystem</a:t>
            </a:r>
          </a:p>
        </p:txBody>
      </p:sp>
      <p:sp>
        <p:nvSpPr>
          <p:cNvPr id="24" name="Rounded Rectangle 23"/>
          <p:cNvSpPr/>
          <p:nvPr/>
        </p:nvSpPr>
        <p:spPr>
          <a:xfrm>
            <a:off x="7955279" y="3383279"/>
            <a:ext cx="3108960" cy="18288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955279" y="3383279"/>
            <a:ext cx="3108960" cy="45720"/>
          </a:xfrm>
          <a:prstGeom prst="rect">
            <a:avLst/>
          </a:prstGeom>
          <a:solidFill>
            <a:srgbClr val="0891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183879" y="3566160"/>
            <a:ext cx="2651760" cy="365760"/>
          </a:xfrm>
          <a:prstGeom prst="rect">
            <a:avLst/>
          </a:prstGeom>
          <a:noFill/>
        </p:spPr>
        <p:txBody>
          <a:bodyPr wrap="square">
            <a:spAutoFit/>
          </a:bodyPr>
          <a:lstStyle/>
          <a:p>
            <a:pPr algn="l">
              <a:defRPr sz="1500" b="1">
                <a:solidFill>
                  <a:srgbClr val="0891B2"/>
                </a:solidFill>
                <a:latin typeface="Calibri"/>
              </a:defRPr>
            </a:pPr>
            <a:r>
              <a:t>Open Source</a:t>
            </a:r>
          </a:p>
        </p:txBody>
      </p:sp>
      <p:sp>
        <p:nvSpPr>
          <p:cNvPr id="27" name="TextBox 26"/>
          <p:cNvSpPr txBox="1"/>
          <p:nvPr/>
        </p:nvSpPr>
        <p:spPr>
          <a:xfrm>
            <a:off x="8183879" y="3977639"/>
            <a:ext cx="2651760" cy="1097280"/>
          </a:xfrm>
          <a:prstGeom prst="rect">
            <a:avLst/>
          </a:prstGeom>
          <a:noFill/>
        </p:spPr>
        <p:txBody>
          <a:bodyPr wrap="square">
            <a:spAutoFit/>
          </a:bodyPr>
          <a:lstStyle/>
          <a:p>
            <a:pPr algn="l">
              <a:defRPr sz="1200" b="0">
                <a:solidFill>
                  <a:srgbClr val="64748B"/>
                </a:solidFill>
                <a:latin typeface="Calibri"/>
              </a:defRPr>
            </a:pPr>
            <a:r>
              <a:t>LangChain, CrewAI, OpenClaw</a:t>
            </a:r>
            <a:br/>
            <a:r>
              <a:t>Community-driven agent frameworks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457200"/>
            <a:ext cx="10058400" cy="548640"/>
          </a:xfrm>
          <a:prstGeom prst="rect">
            <a:avLst/>
          </a:prstGeom>
          <a:noFill/>
        </p:spPr>
        <p:txBody>
          <a:bodyPr wrap="square">
            <a:spAutoFit/>
          </a:bodyPr>
          <a:lstStyle/>
          <a:p>
            <a:pPr algn="l">
              <a:defRPr sz="3200" b="1">
                <a:solidFill>
                  <a:srgbClr val="0F1B3D"/>
                </a:solidFill>
                <a:latin typeface="Calibri"/>
              </a:defRPr>
            </a:pPr>
            <a:r>
              <a:t>Agent Protocols: MCP, A2A &amp; AGENTS.md</a:t>
            </a:r>
          </a:p>
        </p:txBody>
      </p:sp>
      <p:sp>
        <p:nvSpPr>
          <p:cNvPr id="4" name="Rounded Rectangle 3"/>
          <p:cNvSpPr/>
          <p:nvPr/>
        </p:nvSpPr>
        <p:spPr>
          <a:xfrm>
            <a:off x="1097280" y="1280160"/>
            <a:ext cx="3200400" cy="27432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097280" y="1280160"/>
            <a:ext cx="3200400" cy="4572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325880" y="1463039"/>
            <a:ext cx="2743200" cy="365760"/>
          </a:xfrm>
          <a:prstGeom prst="rect">
            <a:avLst/>
          </a:prstGeom>
          <a:noFill/>
        </p:spPr>
        <p:txBody>
          <a:bodyPr wrap="square">
            <a:spAutoFit/>
          </a:bodyPr>
          <a:lstStyle/>
          <a:p>
            <a:pPr algn="l">
              <a:defRPr sz="1500" b="1">
                <a:solidFill>
                  <a:srgbClr val="4F46E5"/>
                </a:solidFill>
                <a:latin typeface="Calibri"/>
              </a:defRPr>
            </a:pPr>
            <a:r>
              <a:t>🔌  MCP</a:t>
            </a:r>
          </a:p>
        </p:txBody>
      </p:sp>
      <p:sp>
        <p:nvSpPr>
          <p:cNvPr id="7" name="TextBox 6"/>
          <p:cNvSpPr txBox="1"/>
          <p:nvPr/>
        </p:nvSpPr>
        <p:spPr>
          <a:xfrm>
            <a:off x="1325880" y="1874519"/>
            <a:ext cx="2743200" cy="2011680"/>
          </a:xfrm>
          <a:prstGeom prst="rect">
            <a:avLst/>
          </a:prstGeom>
          <a:noFill/>
        </p:spPr>
        <p:txBody>
          <a:bodyPr wrap="square">
            <a:spAutoFit/>
          </a:bodyPr>
          <a:lstStyle/>
          <a:p>
            <a:pPr algn="l">
              <a:defRPr sz="1200" b="0">
                <a:solidFill>
                  <a:srgbClr val="64748B"/>
                </a:solidFill>
                <a:latin typeface="Calibri"/>
              </a:defRPr>
            </a:pPr>
            <a:r>
              <a:t>Model Context Protocol</a:t>
            </a:r>
            <a:br/>
            <a:br/>
            <a:r>
              <a:t>Created by Anthropic</a:t>
            </a:r>
            <a:br/>
            <a:r>
              <a:t>"USB-C port for AI"</a:t>
            </a:r>
            <a:br/>
            <a:br/>
            <a:r>
              <a:t>Agent → Tool communication</a:t>
            </a:r>
            <a:br/>
            <a:br/>
            <a:r>
              <a:t>Adopted by Cursor, Windsurf,</a:t>
            </a:r>
            <a:br/>
            <a:r>
              <a:t>Claude Code, AutoGen &amp; more</a:t>
            </a:r>
          </a:p>
        </p:txBody>
      </p:sp>
      <p:sp>
        <p:nvSpPr>
          <p:cNvPr id="8" name="Rounded Rectangle 7"/>
          <p:cNvSpPr/>
          <p:nvPr/>
        </p:nvSpPr>
        <p:spPr>
          <a:xfrm>
            <a:off x="4663440" y="1280160"/>
            <a:ext cx="3200400" cy="27432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663440" y="1280160"/>
            <a:ext cx="3200400" cy="457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892040" y="1463039"/>
            <a:ext cx="2743200" cy="365760"/>
          </a:xfrm>
          <a:prstGeom prst="rect">
            <a:avLst/>
          </a:prstGeom>
          <a:noFill/>
        </p:spPr>
        <p:txBody>
          <a:bodyPr wrap="square">
            <a:spAutoFit/>
          </a:bodyPr>
          <a:lstStyle/>
          <a:p>
            <a:pPr algn="l">
              <a:defRPr sz="1500" b="1">
                <a:solidFill>
                  <a:srgbClr val="2563EB"/>
                </a:solidFill>
                <a:latin typeface="Calibri"/>
              </a:defRPr>
            </a:pPr>
            <a:r>
              <a:t>🤝  A2A</a:t>
            </a:r>
          </a:p>
        </p:txBody>
      </p:sp>
      <p:sp>
        <p:nvSpPr>
          <p:cNvPr id="11" name="TextBox 10"/>
          <p:cNvSpPr txBox="1"/>
          <p:nvPr/>
        </p:nvSpPr>
        <p:spPr>
          <a:xfrm>
            <a:off x="4892040" y="1874519"/>
            <a:ext cx="2743200" cy="2011680"/>
          </a:xfrm>
          <a:prstGeom prst="rect">
            <a:avLst/>
          </a:prstGeom>
          <a:noFill/>
        </p:spPr>
        <p:txBody>
          <a:bodyPr wrap="square">
            <a:spAutoFit/>
          </a:bodyPr>
          <a:lstStyle/>
          <a:p>
            <a:pPr algn="l">
              <a:defRPr sz="1200" b="0">
                <a:solidFill>
                  <a:srgbClr val="64748B"/>
                </a:solidFill>
                <a:latin typeface="Calibri"/>
              </a:defRPr>
            </a:pPr>
            <a:r>
              <a:t>Agent-to-Agent Protocol</a:t>
            </a:r>
            <a:br/>
            <a:br/>
            <a:r>
              <a:t>Created by Google</a:t>
            </a:r>
            <a:br/>
            <a:r>
              <a:t>Donated to Linux Foundation</a:t>
            </a:r>
            <a:br/>
            <a:br/>
            <a:r>
              <a:t>Agent → Agent communication</a:t>
            </a:r>
            <a:br/>
            <a:br/>
            <a:r>
              <a:t>Opaque execution, capability</a:t>
            </a:r>
            <a:br/>
            <a:r>
              <a:t>discovery, task management</a:t>
            </a:r>
          </a:p>
        </p:txBody>
      </p:sp>
      <p:sp>
        <p:nvSpPr>
          <p:cNvPr id="12" name="Rounded Rectangle 11"/>
          <p:cNvSpPr/>
          <p:nvPr/>
        </p:nvSpPr>
        <p:spPr>
          <a:xfrm>
            <a:off x="8229600" y="1280160"/>
            <a:ext cx="3200400" cy="27432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229600" y="1280160"/>
            <a:ext cx="3200400" cy="4572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458200" y="1463039"/>
            <a:ext cx="2743200" cy="365760"/>
          </a:xfrm>
          <a:prstGeom prst="rect">
            <a:avLst/>
          </a:prstGeom>
          <a:noFill/>
        </p:spPr>
        <p:txBody>
          <a:bodyPr wrap="square">
            <a:spAutoFit/>
          </a:bodyPr>
          <a:lstStyle/>
          <a:p>
            <a:pPr algn="l">
              <a:defRPr sz="1500" b="1">
                <a:solidFill>
                  <a:srgbClr val="059669"/>
                </a:solidFill>
                <a:latin typeface="Calibri"/>
              </a:defRPr>
            </a:pPr>
            <a:r>
              <a:t>📄  AGENTS.md</a:t>
            </a:r>
          </a:p>
        </p:txBody>
      </p:sp>
      <p:sp>
        <p:nvSpPr>
          <p:cNvPr id="15" name="TextBox 14"/>
          <p:cNvSpPr txBox="1"/>
          <p:nvPr/>
        </p:nvSpPr>
        <p:spPr>
          <a:xfrm>
            <a:off x="8458200" y="1874519"/>
            <a:ext cx="2743200" cy="2011680"/>
          </a:xfrm>
          <a:prstGeom prst="rect">
            <a:avLst/>
          </a:prstGeom>
          <a:noFill/>
        </p:spPr>
        <p:txBody>
          <a:bodyPr wrap="square">
            <a:spAutoFit/>
          </a:bodyPr>
          <a:lstStyle/>
          <a:p>
            <a:pPr algn="l">
              <a:defRPr sz="1200" b="0">
                <a:solidFill>
                  <a:srgbClr val="64748B"/>
                </a:solidFill>
                <a:latin typeface="Calibri"/>
              </a:defRPr>
            </a:pPr>
            <a:r>
              <a:t>Repository Convention</a:t>
            </a:r>
            <a:br/>
            <a:br/>
            <a:r>
              <a:t>Popularized by OpenClaw</a:t>
            </a:r>
            <a:br/>
            <a:r>
              <a:t>Grassroots adoption</a:t>
            </a:r>
            <a:br/>
            <a:br/>
            <a:r>
              <a:t>Machine-readable codebase</a:t>
            </a:r>
            <a:br/>
            <a:r>
              <a:t>instructions for AI agents</a:t>
            </a:r>
            <a:br/>
            <a:br/>
            <a:r>
              <a:t>60K+ repos and growing</a:t>
            </a:r>
          </a:p>
        </p:txBody>
      </p:sp>
      <p:sp>
        <p:nvSpPr>
          <p:cNvPr id="16" name="TextBox 15"/>
          <p:cNvSpPr txBox="1"/>
          <p:nvPr/>
        </p:nvSpPr>
        <p:spPr>
          <a:xfrm>
            <a:off x="1097280" y="4389120"/>
            <a:ext cx="9601200" cy="548640"/>
          </a:xfrm>
          <a:prstGeom prst="rect">
            <a:avLst/>
          </a:prstGeom>
          <a:noFill/>
        </p:spPr>
        <p:txBody>
          <a:bodyPr wrap="square">
            <a:spAutoFit/>
          </a:bodyPr>
          <a:lstStyle/>
          <a:p>
            <a:pPr algn="ctr">
              <a:defRPr sz="1600" b="1">
                <a:solidFill>
                  <a:srgbClr val="4F46E5"/>
                </a:solidFill>
                <a:latin typeface="Calibri"/>
              </a:defRPr>
            </a:pPr>
            <a:r>
              <a:t>MCP = agent-to-tool  •  A2A = agent-to-agent  •  AGENTS.md = agent-to-codebase</a:t>
            </a:r>
          </a:p>
        </p:txBody>
      </p:sp>
      <p:sp>
        <p:nvSpPr>
          <p:cNvPr id="17" name="TextBox 16"/>
          <p:cNvSpPr txBox="1"/>
          <p:nvPr/>
        </p:nvSpPr>
        <p:spPr>
          <a:xfrm>
            <a:off x="1097280" y="5029200"/>
            <a:ext cx="9601200" cy="1097280"/>
          </a:xfrm>
          <a:prstGeom prst="rect">
            <a:avLst/>
          </a:prstGeom>
          <a:noFill/>
        </p:spPr>
        <p:txBody>
          <a:bodyPr wrap="square">
            <a:spAutoFit/>
          </a:bodyPr>
          <a:lstStyle/>
          <a:p>
            <a:pPr algn="l">
              <a:defRPr sz="1300" b="0">
                <a:solidFill>
                  <a:srgbClr val="64748B"/>
                </a:solidFill>
                <a:latin typeface="Calibri"/>
              </a:defRPr>
            </a:pPr>
            <a:r>
              <a:t>Note: Not all platforms adopt these standards. OpenClaw, for example, uses proprietary protocols (built-in tools, sessions-based multi-agent, custom channel plugins) with optional MCP bridging. This fragmentation makes AOSF's neutral governance role even more critical for cross-platform interoperability.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457200"/>
            <a:ext cx="10058400" cy="548640"/>
          </a:xfrm>
          <a:prstGeom prst="rect">
            <a:avLst/>
          </a:prstGeom>
          <a:noFill/>
        </p:spPr>
        <p:txBody>
          <a:bodyPr wrap="square">
            <a:spAutoFit/>
          </a:bodyPr>
          <a:lstStyle/>
          <a:p>
            <a:pPr algn="l">
              <a:defRPr sz="3200" b="1">
                <a:solidFill>
                  <a:srgbClr val="0F1B3D"/>
                </a:solidFill>
                <a:latin typeface="Calibri"/>
              </a:defRPr>
            </a:pPr>
            <a:r>
              <a:t>Market Size &amp; Growth</a:t>
            </a:r>
          </a:p>
        </p:txBody>
      </p:sp>
      <p:sp>
        <p:nvSpPr>
          <p:cNvPr id="4" name="Rounded Rectangle 3"/>
          <p:cNvSpPr/>
          <p:nvPr/>
        </p:nvSpPr>
        <p:spPr>
          <a:xfrm>
            <a:off x="1371600" y="4706302"/>
            <a:ext cx="891540" cy="140017"/>
          </a:xfrm>
          <a:prstGeom prst="round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280160" y="4386262"/>
            <a:ext cx="1074420" cy="274320"/>
          </a:xfrm>
          <a:prstGeom prst="rect">
            <a:avLst/>
          </a:prstGeom>
          <a:noFill/>
        </p:spPr>
        <p:txBody>
          <a:bodyPr wrap="square">
            <a:spAutoFit/>
          </a:bodyPr>
          <a:lstStyle/>
          <a:p>
            <a:pPr algn="ctr">
              <a:defRPr sz="1100" b="1">
                <a:solidFill>
                  <a:srgbClr val="4F46E5"/>
                </a:solidFill>
                <a:latin typeface="Calibri"/>
              </a:defRPr>
            </a:pPr>
            <a:r>
              <a:t>$3.5B</a:t>
            </a:r>
          </a:p>
        </p:txBody>
      </p:sp>
      <p:sp>
        <p:nvSpPr>
          <p:cNvPr id="6" name="TextBox 5"/>
          <p:cNvSpPr txBox="1"/>
          <p:nvPr/>
        </p:nvSpPr>
        <p:spPr>
          <a:xfrm>
            <a:off x="1280160" y="4892040"/>
            <a:ext cx="1074420" cy="274320"/>
          </a:xfrm>
          <a:prstGeom prst="rect">
            <a:avLst/>
          </a:prstGeom>
          <a:noFill/>
        </p:spPr>
        <p:txBody>
          <a:bodyPr wrap="square">
            <a:spAutoFit/>
          </a:bodyPr>
          <a:lstStyle/>
          <a:p>
            <a:pPr algn="ctr">
              <a:defRPr sz="1200" b="0">
                <a:solidFill>
                  <a:srgbClr val="64748B"/>
                </a:solidFill>
                <a:latin typeface="Calibri"/>
              </a:defRPr>
            </a:pPr>
            <a:r>
              <a:t>2024</a:t>
            </a:r>
          </a:p>
        </p:txBody>
      </p:sp>
      <p:sp>
        <p:nvSpPr>
          <p:cNvPr id="7" name="Rounded Rectangle 6"/>
          <p:cNvSpPr/>
          <p:nvPr/>
        </p:nvSpPr>
        <p:spPr>
          <a:xfrm>
            <a:off x="2743200" y="4606290"/>
            <a:ext cx="891540" cy="240030"/>
          </a:xfrm>
          <a:prstGeom prst="round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651760" y="4286250"/>
            <a:ext cx="1074420" cy="274320"/>
          </a:xfrm>
          <a:prstGeom prst="rect">
            <a:avLst/>
          </a:prstGeom>
          <a:noFill/>
        </p:spPr>
        <p:txBody>
          <a:bodyPr wrap="square">
            <a:spAutoFit/>
          </a:bodyPr>
          <a:lstStyle/>
          <a:p>
            <a:pPr algn="ctr">
              <a:defRPr sz="1100" b="1">
                <a:solidFill>
                  <a:srgbClr val="4F46E5"/>
                </a:solidFill>
                <a:latin typeface="Calibri"/>
              </a:defRPr>
            </a:pPr>
            <a:r>
              <a:t>$6B</a:t>
            </a:r>
          </a:p>
        </p:txBody>
      </p:sp>
      <p:sp>
        <p:nvSpPr>
          <p:cNvPr id="9" name="TextBox 8"/>
          <p:cNvSpPr txBox="1"/>
          <p:nvPr/>
        </p:nvSpPr>
        <p:spPr>
          <a:xfrm>
            <a:off x="2651760" y="4892040"/>
            <a:ext cx="1074420" cy="274320"/>
          </a:xfrm>
          <a:prstGeom prst="rect">
            <a:avLst/>
          </a:prstGeom>
          <a:noFill/>
        </p:spPr>
        <p:txBody>
          <a:bodyPr wrap="square">
            <a:spAutoFit/>
          </a:bodyPr>
          <a:lstStyle/>
          <a:p>
            <a:pPr algn="ctr">
              <a:defRPr sz="1200" b="0">
                <a:solidFill>
                  <a:srgbClr val="64748B"/>
                </a:solidFill>
                <a:latin typeface="Calibri"/>
              </a:defRPr>
            </a:pPr>
            <a:r>
              <a:t>2025</a:t>
            </a:r>
          </a:p>
        </p:txBody>
      </p:sp>
      <p:sp>
        <p:nvSpPr>
          <p:cNvPr id="10" name="Rounded Rectangle 9"/>
          <p:cNvSpPr/>
          <p:nvPr/>
        </p:nvSpPr>
        <p:spPr>
          <a:xfrm>
            <a:off x="4114800" y="4446270"/>
            <a:ext cx="891540" cy="400050"/>
          </a:xfrm>
          <a:prstGeom prst="round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023360" y="4126230"/>
            <a:ext cx="1074420" cy="274320"/>
          </a:xfrm>
          <a:prstGeom prst="rect">
            <a:avLst/>
          </a:prstGeom>
          <a:noFill/>
        </p:spPr>
        <p:txBody>
          <a:bodyPr wrap="square">
            <a:spAutoFit/>
          </a:bodyPr>
          <a:lstStyle/>
          <a:p>
            <a:pPr algn="ctr">
              <a:defRPr sz="1100" b="1">
                <a:solidFill>
                  <a:srgbClr val="4F46E5"/>
                </a:solidFill>
                <a:latin typeface="Calibri"/>
              </a:defRPr>
            </a:pPr>
            <a:r>
              <a:t>$10B</a:t>
            </a:r>
          </a:p>
        </p:txBody>
      </p:sp>
      <p:sp>
        <p:nvSpPr>
          <p:cNvPr id="12" name="TextBox 11"/>
          <p:cNvSpPr txBox="1"/>
          <p:nvPr/>
        </p:nvSpPr>
        <p:spPr>
          <a:xfrm>
            <a:off x="4023360" y="4892040"/>
            <a:ext cx="1074420" cy="274320"/>
          </a:xfrm>
          <a:prstGeom prst="rect">
            <a:avLst/>
          </a:prstGeom>
          <a:noFill/>
        </p:spPr>
        <p:txBody>
          <a:bodyPr wrap="square">
            <a:spAutoFit/>
          </a:bodyPr>
          <a:lstStyle/>
          <a:p>
            <a:pPr algn="ctr">
              <a:defRPr sz="1200" b="0">
                <a:solidFill>
                  <a:srgbClr val="64748B"/>
                </a:solidFill>
                <a:latin typeface="Calibri"/>
              </a:defRPr>
            </a:pPr>
            <a:r>
              <a:t>2026</a:t>
            </a:r>
          </a:p>
        </p:txBody>
      </p:sp>
      <p:sp>
        <p:nvSpPr>
          <p:cNvPr id="13" name="Rounded Rectangle 12"/>
          <p:cNvSpPr/>
          <p:nvPr/>
        </p:nvSpPr>
        <p:spPr>
          <a:xfrm>
            <a:off x="5486400" y="4166234"/>
            <a:ext cx="891540" cy="680085"/>
          </a:xfrm>
          <a:prstGeom prst="round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394960" y="3846195"/>
            <a:ext cx="1074420" cy="274320"/>
          </a:xfrm>
          <a:prstGeom prst="rect">
            <a:avLst/>
          </a:prstGeom>
          <a:noFill/>
        </p:spPr>
        <p:txBody>
          <a:bodyPr wrap="square">
            <a:spAutoFit/>
          </a:bodyPr>
          <a:lstStyle/>
          <a:p>
            <a:pPr algn="ctr">
              <a:defRPr sz="1100" b="1">
                <a:solidFill>
                  <a:srgbClr val="4F46E5"/>
                </a:solidFill>
                <a:latin typeface="Calibri"/>
              </a:defRPr>
            </a:pPr>
            <a:r>
              <a:t>$17B</a:t>
            </a:r>
          </a:p>
        </p:txBody>
      </p:sp>
      <p:sp>
        <p:nvSpPr>
          <p:cNvPr id="15" name="TextBox 14"/>
          <p:cNvSpPr txBox="1"/>
          <p:nvPr/>
        </p:nvSpPr>
        <p:spPr>
          <a:xfrm>
            <a:off x="5394960" y="4892040"/>
            <a:ext cx="1074420" cy="274320"/>
          </a:xfrm>
          <a:prstGeom prst="rect">
            <a:avLst/>
          </a:prstGeom>
          <a:noFill/>
        </p:spPr>
        <p:txBody>
          <a:bodyPr wrap="square">
            <a:spAutoFit/>
          </a:bodyPr>
          <a:lstStyle/>
          <a:p>
            <a:pPr algn="ctr">
              <a:defRPr sz="1200" b="0">
                <a:solidFill>
                  <a:srgbClr val="64748B"/>
                </a:solidFill>
                <a:latin typeface="Calibri"/>
              </a:defRPr>
            </a:pPr>
            <a:r>
              <a:t>2027</a:t>
            </a:r>
          </a:p>
        </p:txBody>
      </p:sp>
      <p:sp>
        <p:nvSpPr>
          <p:cNvPr id="16" name="Rounded Rectangle 15"/>
          <p:cNvSpPr/>
          <p:nvPr/>
        </p:nvSpPr>
        <p:spPr>
          <a:xfrm>
            <a:off x="6858000" y="3686175"/>
            <a:ext cx="891540" cy="1160145"/>
          </a:xfrm>
          <a:prstGeom prst="round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766560" y="3366135"/>
            <a:ext cx="1074420" cy="274320"/>
          </a:xfrm>
          <a:prstGeom prst="rect">
            <a:avLst/>
          </a:prstGeom>
          <a:noFill/>
        </p:spPr>
        <p:txBody>
          <a:bodyPr wrap="square">
            <a:spAutoFit/>
          </a:bodyPr>
          <a:lstStyle/>
          <a:p>
            <a:pPr algn="ctr">
              <a:defRPr sz="1100" b="1">
                <a:solidFill>
                  <a:srgbClr val="4F46E5"/>
                </a:solidFill>
                <a:latin typeface="Calibri"/>
              </a:defRPr>
            </a:pPr>
            <a:r>
              <a:t>$29B</a:t>
            </a:r>
          </a:p>
        </p:txBody>
      </p:sp>
      <p:sp>
        <p:nvSpPr>
          <p:cNvPr id="18" name="TextBox 17"/>
          <p:cNvSpPr txBox="1"/>
          <p:nvPr/>
        </p:nvSpPr>
        <p:spPr>
          <a:xfrm>
            <a:off x="6766560" y="4892040"/>
            <a:ext cx="1074420" cy="274320"/>
          </a:xfrm>
          <a:prstGeom prst="rect">
            <a:avLst/>
          </a:prstGeom>
          <a:noFill/>
        </p:spPr>
        <p:txBody>
          <a:bodyPr wrap="square">
            <a:spAutoFit/>
          </a:bodyPr>
          <a:lstStyle/>
          <a:p>
            <a:pPr algn="ctr">
              <a:defRPr sz="1200" b="0">
                <a:solidFill>
                  <a:srgbClr val="64748B"/>
                </a:solidFill>
                <a:latin typeface="Calibri"/>
              </a:defRPr>
            </a:pPr>
            <a:r>
              <a:t>2028</a:t>
            </a:r>
          </a:p>
        </p:txBody>
      </p:sp>
      <p:sp>
        <p:nvSpPr>
          <p:cNvPr id="19" name="Rounded Rectangle 18"/>
          <p:cNvSpPr/>
          <p:nvPr/>
        </p:nvSpPr>
        <p:spPr>
          <a:xfrm>
            <a:off x="8229600" y="2926079"/>
            <a:ext cx="891540" cy="1920240"/>
          </a:xfrm>
          <a:prstGeom prst="round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138160" y="2606039"/>
            <a:ext cx="1074420" cy="274320"/>
          </a:xfrm>
          <a:prstGeom prst="rect">
            <a:avLst/>
          </a:prstGeom>
          <a:noFill/>
        </p:spPr>
        <p:txBody>
          <a:bodyPr wrap="square">
            <a:spAutoFit/>
          </a:bodyPr>
          <a:lstStyle/>
          <a:p>
            <a:pPr algn="ctr">
              <a:defRPr sz="1100" b="1">
                <a:solidFill>
                  <a:srgbClr val="4F46E5"/>
                </a:solidFill>
                <a:latin typeface="Calibri"/>
              </a:defRPr>
            </a:pPr>
            <a:r>
              <a:t>$48B</a:t>
            </a:r>
          </a:p>
        </p:txBody>
      </p:sp>
      <p:sp>
        <p:nvSpPr>
          <p:cNvPr id="21" name="TextBox 20"/>
          <p:cNvSpPr txBox="1"/>
          <p:nvPr/>
        </p:nvSpPr>
        <p:spPr>
          <a:xfrm>
            <a:off x="8138160" y="4892040"/>
            <a:ext cx="1074420" cy="274320"/>
          </a:xfrm>
          <a:prstGeom prst="rect">
            <a:avLst/>
          </a:prstGeom>
          <a:noFill/>
        </p:spPr>
        <p:txBody>
          <a:bodyPr wrap="square">
            <a:spAutoFit/>
          </a:bodyPr>
          <a:lstStyle/>
          <a:p>
            <a:pPr algn="ctr">
              <a:defRPr sz="1200" b="0">
                <a:solidFill>
                  <a:srgbClr val="64748B"/>
                </a:solidFill>
                <a:latin typeface="Calibri"/>
              </a:defRPr>
            </a:pPr>
            <a:r>
              <a:t>2029</a:t>
            </a:r>
          </a:p>
        </p:txBody>
      </p:sp>
      <p:sp>
        <p:nvSpPr>
          <p:cNvPr id="22" name="Rounded Rectangle 21"/>
          <p:cNvSpPr/>
          <p:nvPr/>
        </p:nvSpPr>
        <p:spPr>
          <a:xfrm>
            <a:off x="9601200" y="1645919"/>
            <a:ext cx="891540" cy="3200400"/>
          </a:xfrm>
          <a:prstGeom prst="round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509760" y="1325879"/>
            <a:ext cx="1074420" cy="274320"/>
          </a:xfrm>
          <a:prstGeom prst="rect">
            <a:avLst/>
          </a:prstGeom>
          <a:noFill/>
        </p:spPr>
        <p:txBody>
          <a:bodyPr wrap="square">
            <a:spAutoFit/>
          </a:bodyPr>
          <a:lstStyle/>
          <a:p>
            <a:pPr algn="ctr">
              <a:defRPr sz="1100" b="1">
                <a:solidFill>
                  <a:srgbClr val="4F46E5"/>
                </a:solidFill>
                <a:latin typeface="Calibri"/>
              </a:defRPr>
            </a:pPr>
            <a:r>
              <a:t>$80B</a:t>
            </a:r>
          </a:p>
        </p:txBody>
      </p:sp>
      <p:sp>
        <p:nvSpPr>
          <p:cNvPr id="24" name="TextBox 23"/>
          <p:cNvSpPr txBox="1"/>
          <p:nvPr/>
        </p:nvSpPr>
        <p:spPr>
          <a:xfrm>
            <a:off x="9509760" y="4892040"/>
            <a:ext cx="1074420" cy="274320"/>
          </a:xfrm>
          <a:prstGeom prst="rect">
            <a:avLst/>
          </a:prstGeom>
          <a:noFill/>
        </p:spPr>
        <p:txBody>
          <a:bodyPr wrap="square">
            <a:spAutoFit/>
          </a:bodyPr>
          <a:lstStyle/>
          <a:p>
            <a:pPr algn="ctr">
              <a:defRPr sz="1200" b="0">
                <a:solidFill>
                  <a:srgbClr val="64748B"/>
                </a:solidFill>
                <a:latin typeface="Calibri"/>
              </a:defRPr>
            </a:pPr>
            <a:r>
              <a:t>2030</a:t>
            </a:r>
          </a:p>
        </p:txBody>
      </p:sp>
      <p:sp>
        <p:nvSpPr>
          <p:cNvPr id="25" name="TextBox 24"/>
          <p:cNvSpPr txBox="1"/>
          <p:nvPr/>
        </p:nvSpPr>
        <p:spPr>
          <a:xfrm>
            <a:off x="1097280" y="5303520"/>
            <a:ext cx="9601200" cy="365760"/>
          </a:xfrm>
          <a:prstGeom prst="rect">
            <a:avLst/>
          </a:prstGeom>
          <a:noFill/>
        </p:spPr>
        <p:txBody>
          <a:bodyPr wrap="square">
            <a:spAutoFit/>
          </a:bodyPr>
          <a:lstStyle/>
          <a:p>
            <a:pPr algn="ctr">
              <a:defRPr sz="1200" b="0">
                <a:solidFill>
                  <a:srgbClr val="64748B"/>
                </a:solidFill>
                <a:latin typeface="Calibri"/>
              </a:defRPr>
            </a:pPr>
            <a:r>
              <a:t>Agentic AI Market Projection  •  44–47% CAGR  •  Sources: MarketsandMarkets, Gartner, LangChain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B3D"/>
        </a:solidFill>
        <a:effectLst/>
      </p:bgPr>
    </p:bg>
    <p:spTree>
      <p:nvGrpSpPr>
        <p:cNvPr id="1" name=""/>
        <p:cNvGrpSpPr/>
        <p:nvPr/>
      </p:nvGrpSpPr>
      <p:grpSpPr/>
      <p:sp>
        <p:nvSpPr>
          <p:cNvPr id="2" name="TextBox 1"/>
          <p:cNvSpPr txBox="1"/>
          <p:nvPr/>
        </p:nvSpPr>
        <p:spPr>
          <a:xfrm>
            <a:off x="1097280" y="2286000"/>
            <a:ext cx="10058400" cy="914400"/>
          </a:xfrm>
          <a:prstGeom prst="rect">
            <a:avLst/>
          </a:prstGeom>
          <a:noFill/>
        </p:spPr>
        <p:txBody>
          <a:bodyPr wrap="square">
            <a:spAutoFit/>
          </a:bodyPr>
          <a:lstStyle/>
          <a:p>
            <a:pPr algn="l">
              <a:defRPr sz="7200" b="1">
                <a:solidFill>
                  <a:srgbClr val="4F46E5"/>
                </a:solidFill>
                <a:latin typeface="Calibri"/>
              </a:defRPr>
            </a:pPr>
            <a:r>
              <a:t>02</a:t>
            </a:r>
          </a:p>
        </p:txBody>
      </p:sp>
      <p:sp>
        <p:nvSpPr>
          <p:cNvPr id="3" name="TextBox 2"/>
          <p:cNvSpPr txBox="1"/>
          <p:nvPr/>
        </p:nvSpPr>
        <p:spPr>
          <a:xfrm>
            <a:off x="1097280" y="3474720"/>
            <a:ext cx="10058400" cy="914400"/>
          </a:xfrm>
          <a:prstGeom prst="rect">
            <a:avLst/>
          </a:prstGeom>
          <a:noFill/>
        </p:spPr>
        <p:txBody>
          <a:bodyPr wrap="square">
            <a:spAutoFit/>
          </a:bodyPr>
          <a:lstStyle/>
          <a:p>
            <a:pPr algn="l">
              <a:defRPr sz="4000" b="1">
                <a:solidFill>
                  <a:srgbClr val="FFFFFF"/>
                </a:solidFill>
                <a:latin typeface="Calibri"/>
              </a:defRPr>
            </a:pPr>
            <a:r>
              <a:t>The Vibe Coding Revolution</a:t>
            </a:r>
          </a:p>
        </p:txBody>
      </p:sp>
      <p:sp>
        <p:nvSpPr>
          <p:cNvPr id="4" name="TextBox 3"/>
          <p:cNvSpPr txBox="1"/>
          <p:nvPr/>
        </p:nvSpPr>
        <p:spPr>
          <a:xfrm>
            <a:off x="1097280" y="4297680"/>
            <a:ext cx="8229600" cy="731520"/>
          </a:xfrm>
          <a:prstGeom prst="rect">
            <a:avLst/>
          </a:prstGeom>
          <a:noFill/>
        </p:spPr>
        <p:txBody>
          <a:bodyPr wrap="square">
            <a:spAutoFit/>
          </a:bodyPr>
          <a:lstStyle/>
          <a:p>
            <a:pPr algn="l">
              <a:defRPr sz="1800" b="0">
                <a:solidFill>
                  <a:srgbClr val="64748B"/>
                </a:solidFill>
                <a:latin typeface="Calibri"/>
              </a:defRPr>
            </a:pPr>
            <a:r>
              <a:t>When AI writes most of the code, everything changes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457200"/>
            <a:ext cx="10058400" cy="548640"/>
          </a:xfrm>
          <a:prstGeom prst="rect">
            <a:avLst/>
          </a:prstGeom>
          <a:noFill/>
        </p:spPr>
        <p:txBody>
          <a:bodyPr wrap="square">
            <a:spAutoFit/>
          </a:bodyPr>
          <a:lstStyle/>
          <a:p>
            <a:pPr algn="l">
              <a:defRPr sz="3200" b="1">
                <a:solidFill>
                  <a:srgbClr val="0F1B3D"/>
                </a:solidFill>
                <a:latin typeface="Calibri"/>
              </a:defRPr>
            </a:pPr>
            <a:r>
              <a:t>What Is Vibe Coding?</a:t>
            </a:r>
          </a:p>
        </p:txBody>
      </p:sp>
      <p:sp>
        <p:nvSpPr>
          <p:cNvPr id="4" name="TextBox 3"/>
          <p:cNvSpPr txBox="1"/>
          <p:nvPr/>
        </p:nvSpPr>
        <p:spPr>
          <a:xfrm>
            <a:off x="1097280" y="1097280"/>
            <a:ext cx="9601200" cy="731520"/>
          </a:xfrm>
          <a:prstGeom prst="rect">
            <a:avLst/>
          </a:prstGeom>
          <a:noFill/>
        </p:spPr>
        <p:txBody>
          <a:bodyPr wrap="square">
            <a:spAutoFit/>
          </a:bodyPr>
          <a:lstStyle/>
          <a:p>
            <a:pPr algn="l">
              <a:defRPr sz="1600" b="0">
                <a:solidFill>
                  <a:srgbClr val="334155"/>
                </a:solidFill>
                <a:latin typeface="Calibri"/>
              </a:defRPr>
            </a:pPr>
            <a:r>
              <a:t>"There's a new kind of coding I call 'vibe coding', where you fully give in to the vibes, embrace exponentials, and forget that the code even exists."</a:t>
            </a:r>
            <a:br/>
            <a:r>
              <a:t>— Andrej Karpathy, February 2025</a:t>
            </a:r>
          </a:p>
        </p:txBody>
      </p:sp>
      <p:sp>
        <p:nvSpPr>
          <p:cNvPr id="5" name="TextBox 4"/>
          <p:cNvSpPr txBox="1"/>
          <p:nvPr/>
        </p:nvSpPr>
        <p:spPr>
          <a:xfrm>
            <a:off x="1097280" y="2286000"/>
            <a:ext cx="10058400" cy="457200"/>
          </a:xfrm>
          <a:prstGeom prst="rect">
            <a:avLst/>
          </a:prstGeom>
          <a:noFill/>
        </p:spPr>
        <p:txBody>
          <a:bodyPr wrap="square">
            <a:spAutoFit/>
          </a:bodyPr>
          <a:lstStyle/>
          <a:p>
            <a:pPr>
              <a:defRPr sz="1500">
                <a:solidFill>
                  <a:srgbClr val="334155"/>
                </a:solidFill>
                <a:latin typeface="Calibri"/>
              </a:defRPr>
            </a:pPr>
            <a:r>
              <a:t>•  Coined by Andrej Karpathy (Feb 2025) — Collins Dictionary Word of the Year 2025</a:t>
            </a:r>
          </a:p>
        </p:txBody>
      </p:sp>
      <p:sp>
        <p:nvSpPr>
          <p:cNvPr id="6" name="TextBox 5"/>
          <p:cNvSpPr txBox="1"/>
          <p:nvPr/>
        </p:nvSpPr>
        <p:spPr>
          <a:xfrm>
            <a:off x="1097280" y="2761488"/>
            <a:ext cx="10058400" cy="457200"/>
          </a:xfrm>
          <a:prstGeom prst="rect">
            <a:avLst/>
          </a:prstGeom>
          <a:noFill/>
        </p:spPr>
        <p:txBody>
          <a:bodyPr wrap="square">
            <a:spAutoFit/>
          </a:bodyPr>
          <a:lstStyle/>
          <a:p>
            <a:pPr>
              <a:defRPr sz="1500">
                <a:solidFill>
                  <a:srgbClr val="334155"/>
                </a:solidFill>
                <a:latin typeface="Calibri"/>
              </a:defRPr>
            </a:pPr>
            <a:r>
              <a:t>•  Developer describes intent in natural language; AI generates the code</a:t>
            </a:r>
          </a:p>
        </p:txBody>
      </p:sp>
      <p:sp>
        <p:nvSpPr>
          <p:cNvPr id="7" name="TextBox 6"/>
          <p:cNvSpPr txBox="1"/>
          <p:nvPr/>
        </p:nvSpPr>
        <p:spPr>
          <a:xfrm>
            <a:off x="1097280" y="3236976"/>
            <a:ext cx="10058400" cy="457200"/>
          </a:xfrm>
          <a:prstGeom prst="rect">
            <a:avLst/>
          </a:prstGeom>
          <a:noFill/>
        </p:spPr>
        <p:txBody>
          <a:bodyPr wrap="square">
            <a:spAutoFit/>
          </a:bodyPr>
          <a:lstStyle/>
          <a:p>
            <a:pPr>
              <a:defRPr sz="1500">
                <a:solidFill>
                  <a:srgbClr val="334155"/>
                </a:solidFill>
                <a:latin typeface="Calibri"/>
              </a:defRPr>
            </a:pPr>
            <a:r>
              <a:t>•  25% of YC Winter 2025 startups had codebases 95% AI-generated</a:t>
            </a:r>
          </a:p>
        </p:txBody>
      </p:sp>
      <p:sp>
        <p:nvSpPr>
          <p:cNvPr id="8" name="TextBox 7"/>
          <p:cNvSpPr txBox="1"/>
          <p:nvPr/>
        </p:nvSpPr>
        <p:spPr>
          <a:xfrm>
            <a:off x="1097280" y="3712464"/>
            <a:ext cx="10058400" cy="457200"/>
          </a:xfrm>
          <a:prstGeom prst="rect">
            <a:avLst/>
          </a:prstGeom>
          <a:noFill/>
        </p:spPr>
        <p:txBody>
          <a:bodyPr wrap="square">
            <a:spAutoFit/>
          </a:bodyPr>
          <a:lstStyle/>
          <a:p>
            <a:pPr>
              <a:defRPr sz="1500">
                <a:solidFill>
                  <a:srgbClr val="334155"/>
                </a:solidFill>
                <a:latin typeface="Calibri"/>
              </a:defRPr>
            </a:pPr>
            <a:r>
              <a:t>•  70% of code at Google now AI-generated (Sundar Pichai, Oct 2025)</a:t>
            </a:r>
          </a:p>
        </p:txBody>
      </p:sp>
      <p:sp>
        <p:nvSpPr>
          <p:cNvPr id="9" name="TextBox 8"/>
          <p:cNvSpPr txBox="1"/>
          <p:nvPr/>
        </p:nvSpPr>
        <p:spPr>
          <a:xfrm>
            <a:off x="1097280" y="4187952"/>
            <a:ext cx="10058400" cy="457200"/>
          </a:xfrm>
          <a:prstGeom prst="rect">
            <a:avLst/>
          </a:prstGeom>
          <a:noFill/>
        </p:spPr>
        <p:txBody>
          <a:bodyPr wrap="square">
            <a:spAutoFit/>
          </a:bodyPr>
          <a:lstStyle/>
          <a:p>
            <a:pPr>
              <a:defRPr sz="1500">
                <a:solidFill>
                  <a:srgbClr val="334155"/>
                </a:solidFill>
                <a:latin typeface="Calibri"/>
              </a:defRPr>
            </a:pPr>
            <a:r>
              <a:t>•  GitHub Copilot: 40%+ of code on the platform is AI-generated</a:t>
            </a:r>
          </a:p>
        </p:txBody>
      </p:sp>
      <p:sp>
        <p:nvSpPr>
          <p:cNvPr id="10" name="TextBox 9"/>
          <p:cNvSpPr txBox="1"/>
          <p:nvPr/>
        </p:nvSpPr>
        <p:spPr>
          <a:xfrm>
            <a:off x="1097280" y="4663440"/>
            <a:ext cx="10058400" cy="457200"/>
          </a:xfrm>
          <a:prstGeom prst="rect">
            <a:avLst/>
          </a:prstGeom>
          <a:noFill/>
        </p:spPr>
        <p:txBody>
          <a:bodyPr wrap="square">
            <a:spAutoFit/>
          </a:bodyPr>
          <a:lstStyle/>
          <a:p>
            <a:pPr>
              <a:defRPr sz="1500">
                <a:solidFill>
                  <a:srgbClr val="334155"/>
                </a:solidFill>
                <a:latin typeface="Calibri"/>
              </a:defRPr>
            </a:pPr>
            <a:r>
              <a:t>•  Key tools: Cursor, Windsurf, Claude Code, Replit Agent, Bolt, Lovable</a:t>
            </a:r>
          </a:p>
        </p:txBody>
      </p:sp>
      <p:sp>
        <p:nvSpPr>
          <p:cNvPr id="11" name="TextBox 10"/>
          <p:cNvSpPr txBox="1"/>
          <p:nvPr/>
        </p:nvSpPr>
        <p:spPr>
          <a:xfrm>
            <a:off x="1097280" y="5138928"/>
            <a:ext cx="10058400" cy="457200"/>
          </a:xfrm>
          <a:prstGeom prst="rect">
            <a:avLst/>
          </a:prstGeom>
          <a:noFill/>
        </p:spPr>
        <p:txBody>
          <a:bodyPr wrap="square">
            <a:spAutoFit/>
          </a:bodyPr>
          <a:lstStyle/>
          <a:p>
            <a:pPr>
              <a:defRPr sz="1500">
                <a:solidFill>
                  <a:srgbClr val="334155"/>
                </a:solidFill>
                <a:latin typeface="Calibri"/>
              </a:defRPr>
            </a:pPr>
            <a:r>
              <a:t>•  Shifts developer role from writing code → reviewing, directing, and validating AI output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457200"/>
            <a:ext cx="10058400" cy="548640"/>
          </a:xfrm>
          <a:prstGeom prst="rect">
            <a:avLst/>
          </a:prstGeom>
          <a:noFill/>
        </p:spPr>
        <p:txBody>
          <a:bodyPr wrap="square">
            <a:spAutoFit/>
          </a:bodyPr>
          <a:lstStyle/>
          <a:p>
            <a:pPr algn="l">
              <a:defRPr sz="3200" b="1">
                <a:solidFill>
                  <a:srgbClr val="0F1B3D"/>
                </a:solidFill>
                <a:latin typeface="Calibri"/>
              </a:defRPr>
            </a:pPr>
            <a:r>
              <a:t>The Security Problem</a:t>
            </a:r>
          </a:p>
        </p:txBody>
      </p:sp>
      <p:sp>
        <p:nvSpPr>
          <p:cNvPr id="4" name="TextBox 3"/>
          <p:cNvSpPr txBox="1"/>
          <p:nvPr/>
        </p:nvSpPr>
        <p:spPr>
          <a:xfrm>
            <a:off x="1097280" y="1097280"/>
            <a:ext cx="9601200" cy="548640"/>
          </a:xfrm>
          <a:prstGeom prst="rect">
            <a:avLst/>
          </a:prstGeom>
          <a:noFill/>
        </p:spPr>
        <p:txBody>
          <a:bodyPr wrap="square">
            <a:spAutoFit/>
          </a:bodyPr>
          <a:lstStyle/>
          <a:p>
            <a:pPr algn="l">
              <a:defRPr sz="1600" b="0">
                <a:solidFill>
                  <a:srgbClr val="334155"/>
                </a:solidFill>
                <a:latin typeface="Calibri"/>
              </a:defRPr>
            </a:pPr>
            <a:r>
              <a:t>AI-generated code is fast but fragile. Nearly half contains security vulnerabilities.</a:t>
            </a:r>
          </a:p>
        </p:txBody>
      </p:sp>
      <p:sp>
        <p:nvSpPr>
          <p:cNvPr id="5" name="TextBox 4"/>
          <p:cNvSpPr txBox="1"/>
          <p:nvPr/>
        </p:nvSpPr>
        <p:spPr>
          <a:xfrm>
            <a:off x="1097280" y="1828800"/>
            <a:ext cx="2286000" cy="365760"/>
          </a:xfrm>
          <a:prstGeom prst="rect">
            <a:avLst/>
          </a:prstGeom>
          <a:noFill/>
        </p:spPr>
        <p:txBody>
          <a:bodyPr wrap="square">
            <a:spAutoFit/>
          </a:bodyPr>
          <a:lstStyle/>
          <a:p>
            <a:pPr algn="r">
              <a:defRPr sz="1300" b="0">
                <a:solidFill>
                  <a:srgbClr val="334155"/>
                </a:solidFill>
                <a:latin typeface="Calibri"/>
              </a:defRPr>
            </a:pPr>
            <a:r>
              <a:t>Injection Flaws</a:t>
            </a:r>
          </a:p>
        </p:txBody>
      </p:sp>
      <p:sp>
        <p:nvSpPr>
          <p:cNvPr id="6" name="Rounded Rectangle 5"/>
          <p:cNvSpPr/>
          <p:nvPr/>
        </p:nvSpPr>
        <p:spPr>
          <a:xfrm>
            <a:off x="3657600" y="1874519"/>
            <a:ext cx="6051665" cy="320040"/>
          </a:xfrm>
          <a:prstGeom prst="round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846425" y="1828800"/>
            <a:ext cx="731520" cy="365760"/>
          </a:xfrm>
          <a:prstGeom prst="rect">
            <a:avLst/>
          </a:prstGeom>
          <a:noFill/>
        </p:spPr>
        <p:txBody>
          <a:bodyPr wrap="square">
            <a:spAutoFit/>
          </a:bodyPr>
          <a:lstStyle/>
          <a:p>
            <a:pPr algn="l">
              <a:defRPr sz="1300" b="1">
                <a:solidFill>
                  <a:srgbClr val="DC2626"/>
                </a:solidFill>
                <a:latin typeface="Calibri"/>
              </a:defRPr>
            </a:pPr>
            <a:r>
              <a:t>52%</a:t>
            </a:r>
          </a:p>
        </p:txBody>
      </p:sp>
      <p:sp>
        <p:nvSpPr>
          <p:cNvPr id="8" name="TextBox 7"/>
          <p:cNvSpPr txBox="1"/>
          <p:nvPr/>
        </p:nvSpPr>
        <p:spPr>
          <a:xfrm>
            <a:off x="1097280" y="2359152"/>
            <a:ext cx="2286000" cy="365760"/>
          </a:xfrm>
          <a:prstGeom prst="rect">
            <a:avLst/>
          </a:prstGeom>
          <a:noFill/>
        </p:spPr>
        <p:txBody>
          <a:bodyPr wrap="square">
            <a:spAutoFit/>
          </a:bodyPr>
          <a:lstStyle/>
          <a:p>
            <a:pPr algn="r">
              <a:defRPr sz="1300" b="0">
                <a:solidFill>
                  <a:srgbClr val="334155"/>
                </a:solidFill>
                <a:latin typeface="Calibri"/>
              </a:defRPr>
            </a:pPr>
            <a:r>
              <a:t>Auth Issues</a:t>
            </a:r>
          </a:p>
        </p:txBody>
      </p:sp>
      <p:sp>
        <p:nvSpPr>
          <p:cNvPr id="9" name="Rounded Rectangle 8"/>
          <p:cNvSpPr/>
          <p:nvPr/>
        </p:nvSpPr>
        <p:spPr>
          <a:xfrm>
            <a:off x="3657600" y="2404872"/>
            <a:ext cx="5586152" cy="320040"/>
          </a:xfrm>
          <a:prstGeom prst="round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80912" y="2359152"/>
            <a:ext cx="731520" cy="365760"/>
          </a:xfrm>
          <a:prstGeom prst="rect">
            <a:avLst/>
          </a:prstGeom>
          <a:noFill/>
        </p:spPr>
        <p:txBody>
          <a:bodyPr wrap="square">
            <a:spAutoFit/>
          </a:bodyPr>
          <a:lstStyle/>
          <a:p>
            <a:pPr algn="l">
              <a:defRPr sz="1300" b="1">
                <a:solidFill>
                  <a:srgbClr val="DC2626"/>
                </a:solidFill>
                <a:latin typeface="Calibri"/>
              </a:defRPr>
            </a:pPr>
            <a:r>
              <a:t>48%</a:t>
            </a:r>
          </a:p>
        </p:txBody>
      </p:sp>
      <p:sp>
        <p:nvSpPr>
          <p:cNvPr id="11" name="TextBox 10"/>
          <p:cNvSpPr txBox="1"/>
          <p:nvPr/>
        </p:nvSpPr>
        <p:spPr>
          <a:xfrm>
            <a:off x="1097280" y="2889504"/>
            <a:ext cx="2286000" cy="365760"/>
          </a:xfrm>
          <a:prstGeom prst="rect">
            <a:avLst/>
          </a:prstGeom>
          <a:noFill/>
        </p:spPr>
        <p:txBody>
          <a:bodyPr wrap="square">
            <a:spAutoFit/>
          </a:bodyPr>
          <a:lstStyle/>
          <a:p>
            <a:pPr algn="r">
              <a:defRPr sz="1300" b="0">
                <a:solidFill>
                  <a:srgbClr val="334155"/>
                </a:solidFill>
                <a:latin typeface="Calibri"/>
              </a:defRPr>
            </a:pPr>
            <a:r>
              <a:t>Data Exposure</a:t>
            </a:r>
          </a:p>
        </p:txBody>
      </p:sp>
      <p:sp>
        <p:nvSpPr>
          <p:cNvPr id="12" name="Rounded Rectangle 11"/>
          <p:cNvSpPr/>
          <p:nvPr/>
        </p:nvSpPr>
        <p:spPr>
          <a:xfrm>
            <a:off x="3657600" y="2935224"/>
            <a:ext cx="5237018" cy="320040"/>
          </a:xfrm>
          <a:prstGeom prst="round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031778" y="2889504"/>
            <a:ext cx="731520" cy="365760"/>
          </a:xfrm>
          <a:prstGeom prst="rect">
            <a:avLst/>
          </a:prstGeom>
          <a:noFill/>
        </p:spPr>
        <p:txBody>
          <a:bodyPr wrap="square">
            <a:spAutoFit/>
          </a:bodyPr>
          <a:lstStyle/>
          <a:p>
            <a:pPr algn="l">
              <a:defRPr sz="1300" b="1">
                <a:solidFill>
                  <a:srgbClr val="D97706"/>
                </a:solidFill>
                <a:latin typeface="Calibri"/>
              </a:defRPr>
            </a:pPr>
            <a:r>
              <a:t>45%</a:t>
            </a:r>
          </a:p>
        </p:txBody>
      </p:sp>
      <p:sp>
        <p:nvSpPr>
          <p:cNvPr id="14" name="TextBox 13"/>
          <p:cNvSpPr txBox="1"/>
          <p:nvPr/>
        </p:nvSpPr>
        <p:spPr>
          <a:xfrm>
            <a:off x="1097280" y="3419856"/>
            <a:ext cx="2286000" cy="365760"/>
          </a:xfrm>
          <a:prstGeom prst="rect">
            <a:avLst/>
          </a:prstGeom>
          <a:noFill/>
        </p:spPr>
        <p:txBody>
          <a:bodyPr wrap="square">
            <a:spAutoFit/>
          </a:bodyPr>
          <a:lstStyle/>
          <a:p>
            <a:pPr algn="r">
              <a:defRPr sz="1300" b="0">
                <a:solidFill>
                  <a:srgbClr val="334155"/>
                </a:solidFill>
                <a:latin typeface="Calibri"/>
              </a:defRPr>
            </a:pPr>
            <a:r>
              <a:t>Security Misconfig</a:t>
            </a:r>
          </a:p>
        </p:txBody>
      </p:sp>
      <p:sp>
        <p:nvSpPr>
          <p:cNvPr id="15" name="Rounded Rectangle 14"/>
          <p:cNvSpPr/>
          <p:nvPr/>
        </p:nvSpPr>
        <p:spPr>
          <a:xfrm>
            <a:off x="3657600" y="3465575"/>
            <a:ext cx="5004261" cy="320040"/>
          </a:xfrm>
          <a:prstGeom prst="round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799021" y="3419856"/>
            <a:ext cx="731520" cy="365760"/>
          </a:xfrm>
          <a:prstGeom prst="rect">
            <a:avLst/>
          </a:prstGeom>
          <a:noFill/>
        </p:spPr>
        <p:txBody>
          <a:bodyPr wrap="square">
            <a:spAutoFit/>
          </a:bodyPr>
          <a:lstStyle/>
          <a:p>
            <a:pPr algn="l">
              <a:defRPr sz="1300" b="1">
                <a:solidFill>
                  <a:srgbClr val="D97706"/>
                </a:solidFill>
                <a:latin typeface="Calibri"/>
              </a:defRPr>
            </a:pPr>
            <a:r>
              <a:t>43%</a:t>
            </a:r>
          </a:p>
        </p:txBody>
      </p:sp>
      <p:sp>
        <p:nvSpPr>
          <p:cNvPr id="17" name="TextBox 16"/>
          <p:cNvSpPr txBox="1"/>
          <p:nvPr/>
        </p:nvSpPr>
        <p:spPr>
          <a:xfrm>
            <a:off x="1097280" y="3950208"/>
            <a:ext cx="2286000" cy="365760"/>
          </a:xfrm>
          <a:prstGeom prst="rect">
            <a:avLst/>
          </a:prstGeom>
          <a:noFill/>
        </p:spPr>
        <p:txBody>
          <a:bodyPr wrap="square">
            <a:spAutoFit/>
          </a:bodyPr>
          <a:lstStyle/>
          <a:p>
            <a:pPr algn="r">
              <a:defRPr sz="1300" b="0">
                <a:solidFill>
                  <a:srgbClr val="334155"/>
                </a:solidFill>
                <a:latin typeface="Calibri"/>
              </a:defRPr>
            </a:pPr>
            <a:r>
              <a:t>XSS</a:t>
            </a:r>
          </a:p>
        </p:txBody>
      </p:sp>
      <p:sp>
        <p:nvSpPr>
          <p:cNvPr id="18" name="Rounded Rectangle 17"/>
          <p:cNvSpPr/>
          <p:nvPr/>
        </p:nvSpPr>
        <p:spPr>
          <a:xfrm>
            <a:off x="3657600" y="3995928"/>
            <a:ext cx="4771505" cy="320040"/>
          </a:xfrm>
          <a:prstGeom prst="round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66265" y="3950208"/>
            <a:ext cx="731520" cy="365760"/>
          </a:xfrm>
          <a:prstGeom prst="rect">
            <a:avLst/>
          </a:prstGeom>
          <a:noFill/>
        </p:spPr>
        <p:txBody>
          <a:bodyPr wrap="square">
            <a:spAutoFit/>
          </a:bodyPr>
          <a:lstStyle/>
          <a:p>
            <a:pPr algn="l">
              <a:defRPr sz="1300" b="1">
                <a:solidFill>
                  <a:srgbClr val="D97706"/>
                </a:solidFill>
                <a:latin typeface="Calibri"/>
              </a:defRPr>
            </a:pPr>
            <a:r>
              <a:t>41%</a:t>
            </a:r>
          </a:p>
        </p:txBody>
      </p:sp>
      <p:sp>
        <p:nvSpPr>
          <p:cNvPr id="20" name="TextBox 19"/>
          <p:cNvSpPr txBox="1"/>
          <p:nvPr/>
        </p:nvSpPr>
        <p:spPr>
          <a:xfrm>
            <a:off x="1097280" y="4480560"/>
            <a:ext cx="2286000" cy="365760"/>
          </a:xfrm>
          <a:prstGeom prst="rect">
            <a:avLst/>
          </a:prstGeom>
          <a:noFill/>
        </p:spPr>
        <p:txBody>
          <a:bodyPr wrap="square">
            <a:spAutoFit/>
          </a:bodyPr>
          <a:lstStyle/>
          <a:p>
            <a:pPr algn="r">
              <a:defRPr sz="1300" b="0">
                <a:solidFill>
                  <a:srgbClr val="334155"/>
                </a:solidFill>
                <a:latin typeface="Calibri"/>
              </a:defRPr>
            </a:pPr>
            <a:r>
              <a:t>Insecure Deps</a:t>
            </a:r>
          </a:p>
        </p:txBody>
      </p:sp>
      <p:sp>
        <p:nvSpPr>
          <p:cNvPr id="21" name="Rounded Rectangle 20"/>
          <p:cNvSpPr/>
          <p:nvPr/>
        </p:nvSpPr>
        <p:spPr>
          <a:xfrm>
            <a:off x="3657600" y="4526280"/>
            <a:ext cx="4538749" cy="32004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333509" y="4480560"/>
            <a:ext cx="731520" cy="365760"/>
          </a:xfrm>
          <a:prstGeom prst="rect">
            <a:avLst/>
          </a:prstGeom>
          <a:noFill/>
        </p:spPr>
        <p:txBody>
          <a:bodyPr wrap="square">
            <a:spAutoFit/>
          </a:bodyPr>
          <a:lstStyle/>
          <a:p>
            <a:pPr algn="l">
              <a:defRPr sz="1300" b="1">
                <a:solidFill>
                  <a:srgbClr val="2563EB"/>
                </a:solidFill>
                <a:latin typeface="Calibri"/>
              </a:defRPr>
            </a:pPr>
            <a:r>
              <a:t>39%</a:t>
            </a:r>
          </a:p>
        </p:txBody>
      </p:sp>
      <p:sp>
        <p:nvSpPr>
          <p:cNvPr id="23" name="TextBox 22"/>
          <p:cNvSpPr txBox="1"/>
          <p:nvPr/>
        </p:nvSpPr>
        <p:spPr>
          <a:xfrm>
            <a:off x="1097280" y="5010912"/>
            <a:ext cx="2286000" cy="365760"/>
          </a:xfrm>
          <a:prstGeom prst="rect">
            <a:avLst/>
          </a:prstGeom>
          <a:noFill/>
        </p:spPr>
        <p:txBody>
          <a:bodyPr wrap="square">
            <a:spAutoFit/>
          </a:bodyPr>
          <a:lstStyle/>
          <a:p>
            <a:pPr algn="r">
              <a:defRPr sz="1300" b="0">
                <a:solidFill>
                  <a:srgbClr val="334155"/>
                </a:solidFill>
                <a:latin typeface="Calibri"/>
              </a:defRPr>
            </a:pPr>
            <a:r>
              <a:t>Buffer Overflows</a:t>
            </a:r>
          </a:p>
        </p:txBody>
      </p:sp>
      <p:sp>
        <p:nvSpPr>
          <p:cNvPr id="24" name="Rounded Rectangle 23"/>
          <p:cNvSpPr/>
          <p:nvPr/>
        </p:nvSpPr>
        <p:spPr>
          <a:xfrm>
            <a:off x="3657600" y="5056631"/>
            <a:ext cx="4073236" cy="32004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867996" y="5010912"/>
            <a:ext cx="731520" cy="365760"/>
          </a:xfrm>
          <a:prstGeom prst="rect">
            <a:avLst/>
          </a:prstGeom>
          <a:noFill/>
        </p:spPr>
        <p:txBody>
          <a:bodyPr wrap="square">
            <a:spAutoFit/>
          </a:bodyPr>
          <a:lstStyle/>
          <a:p>
            <a:pPr algn="l">
              <a:defRPr sz="1300" b="1">
                <a:solidFill>
                  <a:srgbClr val="2563EB"/>
                </a:solidFill>
                <a:latin typeface="Calibri"/>
              </a:defRPr>
            </a:pPr>
            <a:r>
              <a:t>35%</a:t>
            </a:r>
          </a:p>
        </p:txBody>
      </p:sp>
      <p:sp>
        <p:nvSpPr>
          <p:cNvPr id="26" name="TextBox 25"/>
          <p:cNvSpPr txBox="1"/>
          <p:nvPr/>
        </p:nvSpPr>
        <p:spPr>
          <a:xfrm>
            <a:off x="1097280" y="5541264"/>
            <a:ext cx="2286000" cy="365760"/>
          </a:xfrm>
          <a:prstGeom prst="rect">
            <a:avLst/>
          </a:prstGeom>
          <a:noFill/>
        </p:spPr>
        <p:txBody>
          <a:bodyPr wrap="square">
            <a:spAutoFit/>
          </a:bodyPr>
          <a:lstStyle/>
          <a:p>
            <a:pPr algn="r">
              <a:defRPr sz="1300" b="0">
                <a:solidFill>
                  <a:srgbClr val="334155"/>
                </a:solidFill>
                <a:latin typeface="Calibri"/>
              </a:defRPr>
            </a:pPr>
            <a:r>
              <a:t>Race Conditions</a:t>
            </a:r>
          </a:p>
        </p:txBody>
      </p:sp>
      <p:sp>
        <p:nvSpPr>
          <p:cNvPr id="27" name="Rounded Rectangle 26"/>
          <p:cNvSpPr/>
          <p:nvPr/>
        </p:nvSpPr>
        <p:spPr>
          <a:xfrm>
            <a:off x="3657600" y="5586983"/>
            <a:ext cx="3258589" cy="32004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053349" y="5541264"/>
            <a:ext cx="731520" cy="365760"/>
          </a:xfrm>
          <a:prstGeom prst="rect">
            <a:avLst/>
          </a:prstGeom>
          <a:noFill/>
        </p:spPr>
        <p:txBody>
          <a:bodyPr wrap="square">
            <a:spAutoFit/>
          </a:bodyPr>
          <a:lstStyle/>
          <a:p>
            <a:pPr algn="l">
              <a:defRPr sz="1300" b="1">
                <a:solidFill>
                  <a:srgbClr val="2563EB"/>
                </a:solidFill>
                <a:latin typeface="Calibri"/>
              </a:defRPr>
            </a:pPr>
            <a:r>
              <a:t>28%</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B3D"/>
        </a:solidFill>
        <a:effectLst/>
      </p:bgPr>
    </p:bg>
    <p:spTree>
      <p:nvGrpSpPr>
        <p:cNvPr id="1" name=""/>
        <p:cNvGrpSpPr/>
        <p:nvPr/>
      </p:nvGrpSpPr>
      <p:grpSpPr/>
      <p:sp>
        <p:nvSpPr>
          <p:cNvPr id="2" name="TextBox 1"/>
          <p:cNvSpPr txBox="1"/>
          <p:nvPr/>
        </p:nvSpPr>
        <p:spPr>
          <a:xfrm>
            <a:off x="1097280" y="2286000"/>
            <a:ext cx="10058400" cy="914400"/>
          </a:xfrm>
          <a:prstGeom prst="rect">
            <a:avLst/>
          </a:prstGeom>
          <a:noFill/>
        </p:spPr>
        <p:txBody>
          <a:bodyPr wrap="square">
            <a:spAutoFit/>
          </a:bodyPr>
          <a:lstStyle/>
          <a:p>
            <a:pPr algn="l">
              <a:defRPr sz="7200" b="1">
                <a:solidFill>
                  <a:srgbClr val="4F46E5"/>
                </a:solidFill>
                <a:latin typeface="Calibri"/>
              </a:defRPr>
            </a:pPr>
            <a:r>
              <a:t>03</a:t>
            </a:r>
          </a:p>
        </p:txBody>
      </p:sp>
      <p:sp>
        <p:nvSpPr>
          <p:cNvPr id="3" name="TextBox 2"/>
          <p:cNvSpPr txBox="1"/>
          <p:nvPr/>
        </p:nvSpPr>
        <p:spPr>
          <a:xfrm>
            <a:off x="1097280" y="3474720"/>
            <a:ext cx="10058400" cy="914400"/>
          </a:xfrm>
          <a:prstGeom prst="rect">
            <a:avLst/>
          </a:prstGeom>
          <a:noFill/>
        </p:spPr>
        <p:txBody>
          <a:bodyPr wrap="square">
            <a:spAutoFit/>
          </a:bodyPr>
          <a:lstStyle/>
          <a:p>
            <a:pPr algn="l">
              <a:defRPr sz="4000" b="1">
                <a:solidFill>
                  <a:srgbClr val="FFFFFF"/>
                </a:solidFill>
                <a:latin typeface="Calibri"/>
              </a:defRPr>
            </a:pPr>
            <a:r>
              <a:t>The Governance Gap</a:t>
            </a:r>
          </a:p>
        </p:txBody>
      </p:sp>
      <p:sp>
        <p:nvSpPr>
          <p:cNvPr id="4" name="TextBox 3"/>
          <p:cNvSpPr txBox="1"/>
          <p:nvPr/>
        </p:nvSpPr>
        <p:spPr>
          <a:xfrm>
            <a:off x="1097280" y="4297680"/>
            <a:ext cx="8229600" cy="731520"/>
          </a:xfrm>
          <a:prstGeom prst="rect">
            <a:avLst/>
          </a:prstGeom>
          <a:noFill/>
        </p:spPr>
        <p:txBody>
          <a:bodyPr wrap="square">
            <a:spAutoFit/>
          </a:bodyPr>
          <a:lstStyle/>
          <a:p>
            <a:pPr algn="l">
              <a:defRPr sz="1800" b="0">
                <a:solidFill>
                  <a:srgbClr val="64748B"/>
                </a:solidFill>
                <a:latin typeface="Calibri"/>
              </a:defRPr>
            </a:pPr>
            <a:r>
              <a:t>What existing foundations don't cover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457200"/>
            <a:ext cx="10058400" cy="548640"/>
          </a:xfrm>
          <a:prstGeom prst="rect">
            <a:avLst/>
          </a:prstGeom>
          <a:noFill/>
        </p:spPr>
        <p:txBody>
          <a:bodyPr wrap="square">
            <a:spAutoFit/>
          </a:bodyPr>
          <a:lstStyle/>
          <a:p>
            <a:pPr algn="l">
              <a:defRPr sz="3200" b="1">
                <a:solidFill>
                  <a:srgbClr val="0F1B3D"/>
                </a:solidFill>
                <a:latin typeface="Calibri"/>
              </a:defRPr>
            </a:pPr>
            <a:r>
              <a:t>Foundation Coverage Comparison</a:t>
            </a:r>
          </a:p>
        </p:txBody>
      </p:sp>
      <p:sp>
        <p:nvSpPr>
          <p:cNvPr id="4" name="Rectangle 3"/>
          <p:cNvSpPr/>
          <p:nvPr/>
        </p:nvSpPr>
        <p:spPr>
          <a:xfrm>
            <a:off x="1097280" y="1280160"/>
            <a:ext cx="2743200" cy="438912"/>
          </a:xfrm>
          <a:prstGeom prst="rect">
            <a:avLst/>
          </a:prstGeom>
          <a:solidFill>
            <a:srgbClr val="0F1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88720" y="1325880"/>
            <a:ext cx="2560320" cy="347472"/>
          </a:xfrm>
          <a:prstGeom prst="rect">
            <a:avLst/>
          </a:prstGeom>
          <a:noFill/>
        </p:spPr>
        <p:txBody>
          <a:bodyPr wrap="square">
            <a:spAutoFit/>
          </a:bodyPr>
          <a:lstStyle/>
          <a:p>
            <a:pPr algn="l">
              <a:defRPr sz="1100" b="1">
                <a:solidFill>
                  <a:srgbClr val="FFFFFF"/>
                </a:solidFill>
                <a:latin typeface="Calibri"/>
              </a:defRPr>
            </a:pPr>
            <a:r>
              <a:t>Domain</a:t>
            </a:r>
          </a:p>
        </p:txBody>
      </p:sp>
      <p:sp>
        <p:nvSpPr>
          <p:cNvPr id="6" name="Rectangle 5"/>
          <p:cNvSpPr/>
          <p:nvPr/>
        </p:nvSpPr>
        <p:spPr>
          <a:xfrm>
            <a:off x="3840480" y="1280160"/>
            <a:ext cx="1463040" cy="438912"/>
          </a:xfrm>
          <a:prstGeom prst="rect">
            <a:avLst/>
          </a:prstGeom>
          <a:solidFill>
            <a:srgbClr val="0F1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931920" y="1325880"/>
            <a:ext cx="1280160" cy="347472"/>
          </a:xfrm>
          <a:prstGeom prst="rect">
            <a:avLst/>
          </a:prstGeom>
          <a:noFill/>
        </p:spPr>
        <p:txBody>
          <a:bodyPr wrap="square">
            <a:spAutoFit/>
          </a:bodyPr>
          <a:lstStyle/>
          <a:p>
            <a:pPr algn="ctr">
              <a:defRPr sz="1100" b="1">
                <a:solidFill>
                  <a:srgbClr val="FFFFFF"/>
                </a:solidFill>
                <a:latin typeface="Calibri"/>
              </a:defRPr>
            </a:pPr>
            <a:r>
              <a:t>Linux Fn</a:t>
            </a:r>
          </a:p>
        </p:txBody>
      </p:sp>
      <p:sp>
        <p:nvSpPr>
          <p:cNvPr id="8" name="Rectangle 7"/>
          <p:cNvSpPr/>
          <p:nvPr/>
        </p:nvSpPr>
        <p:spPr>
          <a:xfrm>
            <a:off x="5303520" y="1280160"/>
            <a:ext cx="1280160" cy="438912"/>
          </a:xfrm>
          <a:prstGeom prst="rect">
            <a:avLst/>
          </a:prstGeom>
          <a:solidFill>
            <a:srgbClr val="0F1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394960" y="1325880"/>
            <a:ext cx="1097280" cy="347472"/>
          </a:xfrm>
          <a:prstGeom prst="rect">
            <a:avLst/>
          </a:prstGeom>
          <a:noFill/>
        </p:spPr>
        <p:txBody>
          <a:bodyPr wrap="square">
            <a:spAutoFit/>
          </a:bodyPr>
          <a:lstStyle/>
          <a:p>
            <a:pPr algn="ctr">
              <a:defRPr sz="1100" b="1">
                <a:solidFill>
                  <a:srgbClr val="FFFFFF"/>
                </a:solidFill>
                <a:latin typeface="Calibri"/>
              </a:defRPr>
            </a:pPr>
            <a:r>
              <a:t>Apache</a:t>
            </a:r>
          </a:p>
        </p:txBody>
      </p:sp>
      <p:sp>
        <p:nvSpPr>
          <p:cNvPr id="10" name="Rectangle 9"/>
          <p:cNvSpPr/>
          <p:nvPr/>
        </p:nvSpPr>
        <p:spPr>
          <a:xfrm>
            <a:off x="6583680" y="1280160"/>
            <a:ext cx="1280160" cy="438912"/>
          </a:xfrm>
          <a:prstGeom prst="rect">
            <a:avLst/>
          </a:prstGeom>
          <a:solidFill>
            <a:srgbClr val="0F1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75120" y="1325880"/>
            <a:ext cx="1097280" cy="347472"/>
          </a:xfrm>
          <a:prstGeom prst="rect">
            <a:avLst/>
          </a:prstGeom>
          <a:noFill/>
        </p:spPr>
        <p:txBody>
          <a:bodyPr wrap="square">
            <a:spAutoFit/>
          </a:bodyPr>
          <a:lstStyle/>
          <a:p>
            <a:pPr algn="ctr">
              <a:defRPr sz="1100" b="1">
                <a:solidFill>
                  <a:srgbClr val="FFFFFF"/>
                </a:solidFill>
                <a:latin typeface="Calibri"/>
              </a:defRPr>
            </a:pPr>
            <a:r>
              <a:t>CNCF</a:t>
            </a:r>
          </a:p>
        </p:txBody>
      </p:sp>
      <p:sp>
        <p:nvSpPr>
          <p:cNvPr id="12" name="Rectangle 11"/>
          <p:cNvSpPr/>
          <p:nvPr/>
        </p:nvSpPr>
        <p:spPr>
          <a:xfrm>
            <a:off x="7863840" y="1280160"/>
            <a:ext cx="1280160" cy="438912"/>
          </a:xfrm>
          <a:prstGeom prst="rect">
            <a:avLst/>
          </a:prstGeom>
          <a:solidFill>
            <a:srgbClr val="0F1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955280" y="1325880"/>
            <a:ext cx="1097280" cy="347472"/>
          </a:xfrm>
          <a:prstGeom prst="rect">
            <a:avLst/>
          </a:prstGeom>
          <a:noFill/>
        </p:spPr>
        <p:txBody>
          <a:bodyPr wrap="square">
            <a:spAutoFit/>
          </a:bodyPr>
          <a:lstStyle/>
          <a:p>
            <a:pPr algn="ctr">
              <a:defRPr sz="1100" b="1">
                <a:solidFill>
                  <a:srgbClr val="FFFFFF"/>
                </a:solidFill>
                <a:latin typeface="Calibri"/>
              </a:defRPr>
            </a:pPr>
            <a:r>
              <a:t>OSI</a:t>
            </a:r>
          </a:p>
        </p:txBody>
      </p:sp>
      <p:sp>
        <p:nvSpPr>
          <p:cNvPr id="14" name="Rectangle 13"/>
          <p:cNvSpPr/>
          <p:nvPr/>
        </p:nvSpPr>
        <p:spPr>
          <a:xfrm>
            <a:off x="9144000" y="1280160"/>
            <a:ext cx="1463040" cy="438912"/>
          </a:xfrm>
          <a:prstGeom prst="rect">
            <a:avLst/>
          </a:prstGeom>
          <a:solidFill>
            <a:srgbClr val="0F1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235440" y="1325880"/>
            <a:ext cx="1280160" cy="347472"/>
          </a:xfrm>
          <a:prstGeom prst="rect">
            <a:avLst/>
          </a:prstGeom>
          <a:noFill/>
        </p:spPr>
        <p:txBody>
          <a:bodyPr wrap="square">
            <a:spAutoFit/>
          </a:bodyPr>
          <a:lstStyle/>
          <a:p>
            <a:pPr algn="ctr">
              <a:defRPr sz="1100" b="1">
                <a:solidFill>
                  <a:srgbClr val="FFFFFF"/>
                </a:solidFill>
                <a:latin typeface="Calibri"/>
              </a:defRPr>
            </a:pPr>
            <a:r>
              <a:t>AOSF</a:t>
            </a:r>
          </a:p>
        </p:txBody>
      </p:sp>
      <p:sp>
        <p:nvSpPr>
          <p:cNvPr id="16" name="Rectangle 15"/>
          <p:cNvSpPr/>
          <p:nvPr/>
        </p:nvSpPr>
        <p:spPr>
          <a:xfrm>
            <a:off x="1097280" y="1719072"/>
            <a:ext cx="2743200" cy="438912"/>
          </a:xfrm>
          <a:prstGeom prst="rect">
            <a:avLst/>
          </a:prstGeom>
          <a:solidFill>
            <a:srgbClr val="F8FAFC"/>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188720" y="1764792"/>
            <a:ext cx="2560320" cy="347472"/>
          </a:xfrm>
          <a:prstGeom prst="rect">
            <a:avLst/>
          </a:prstGeom>
          <a:noFill/>
        </p:spPr>
        <p:txBody>
          <a:bodyPr wrap="square">
            <a:spAutoFit/>
          </a:bodyPr>
          <a:lstStyle/>
          <a:p>
            <a:pPr algn="l">
              <a:defRPr sz="1100" b="0">
                <a:solidFill>
                  <a:srgbClr val="334155"/>
                </a:solidFill>
                <a:latin typeface="Calibri"/>
              </a:defRPr>
            </a:pPr>
            <a:r>
              <a:t>AI-Native Project Hosting</a:t>
            </a:r>
          </a:p>
        </p:txBody>
      </p:sp>
      <p:sp>
        <p:nvSpPr>
          <p:cNvPr id="18" name="Rectangle 17"/>
          <p:cNvSpPr/>
          <p:nvPr/>
        </p:nvSpPr>
        <p:spPr>
          <a:xfrm>
            <a:off x="3840480" y="1719072"/>
            <a:ext cx="1463040" cy="438912"/>
          </a:xfrm>
          <a:prstGeom prst="rect">
            <a:avLst/>
          </a:prstGeom>
          <a:solidFill>
            <a:srgbClr val="F8FAFC"/>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931920" y="1764792"/>
            <a:ext cx="1280160" cy="347472"/>
          </a:xfrm>
          <a:prstGeom prst="rect">
            <a:avLst/>
          </a:prstGeom>
          <a:noFill/>
        </p:spPr>
        <p:txBody>
          <a:bodyPr wrap="square">
            <a:spAutoFit/>
          </a:bodyPr>
          <a:lstStyle/>
          <a:p>
            <a:pPr algn="ctr">
              <a:defRPr sz="1200" b="0">
                <a:solidFill>
                  <a:srgbClr val="E2E8F0"/>
                </a:solidFill>
                <a:latin typeface="Calibri"/>
              </a:defRPr>
            </a:pPr>
            <a:r>
              <a:t>✗</a:t>
            </a:r>
          </a:p>
        </p:txBody>
      </p:sp>
      <p:sp>
        <p:nvSpPr>
          <p:cNvPr id="20" name="Rectangle 19"/>
          <p:cNvSpPr/>
          <p:nvPr/>
        </p:nvSpPr>
        <p:spPr>
          <a:xfrm>
            <a:off x="5303520" y="1719072"/>
            <a:ext cx="1280160" cy="438912"/>
          </a:xfrm>
          <a:prstGeom prst="rect">
            <a:avLst/>
          </a:prstGeom>
          <a:solidFill>
            <a:srgbClr val="F8FAFC"/>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394960" y="1764792"/>
            <a:ext cx="1097280" cy="347472"/>
          </a:xfrm>
          <a:prstGeom prst="rect">
            <a:avLst/>
          </a:prstGeom>
          <a:noFill/>
        </p:spPr>
        <p:txBody>
          <a:bodyPr wrap="square">
            <a:spAutoFit/>
          </a:bodyPr>
          <a:lstStyle/>
          <a:p>
            <a:pPr algn="ctr">
              <a:defRPr sz="1200" b="0">
                <a:solidFill>
                  <a:srgbClr val="E2E8F0"/>
                </a:solidFill>
                <a:latin typeface="Calibri"/>
              </a:defRPr>
            </a:pPr>
            <a:r>
              <a:t>✗</a:t>
            </a:r>
          </a:p>
        </p:txBody>
      </p:sp>
      <p:sp>
        <p:nvSpPr>
          <p:cNvPr id="22" name="Rectangle 21"/>
          <p:cNvSpPr/>
          <p:nvPr/>
        </p:nvSpPr>
        <p:spPr>
          <a:xfrm>
            <a:off x="6583680" y="1719072"/>
            <a:ext cx="1280160" cy="438912"/>
          </a:xfrm>
          <a:prstGeom prst="rect">
            <a:avLst/>
          </a:prstGeom>
          <a:solidFill>
            <a:srgbClr val="F8FAFC"/>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675120" y="1764792"/>
            <a:ext cx="1097280" cy="347472"/>
          </a:xfrm>
          <a:prstGeom prst="rect">
            <a:avLst/>
          </a:prstGeom>
          <a:noFill/>
        </p:spPr>
        <p:txBody>
          <a:bodyPr wrap="square">
            <a:spAutoFit/>
          </a:bodyPr>
          <a:lstStyle/>
          <a:p>
            <a:pPr algn="ctr">
              <a:defRPr sz="1200" b="0">
                <a:solidFill>
                  <a:srgbClr val="E2E8F0"/>
                </a:solidFill>
                <a:latin typeface="Calibri"/>
              </a:defRPr>
            </a:pPr>
            <a:r>
              <a:t>✗</a:t>
            </a:r>
          </a:p>
        </p:txBody>
      </p:sp>
      <p:sp>
        <p:nvSpPr>
          <p:cNvPr id="24" name="Rectangle 23"/>
          <p:cNvSpPr/>
          <p:nvPr/>
        </p:nvSpPr>
        <p:spPr>
          <a:xfrm>
            <a:off x="7863840" y="1719072"/>
            <a:ext cx="1280160" cy="438912"/>
          </a:xfrm>
          <a:prstGeom prst="rect">
            <a:avLst/>
          </a:prstGeom>
          <a:solidFill>
            <a:srgbClr val="F8FAFC"/>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955280" y="1764792"/>
            <a:ext cx="1097280" cy="347472"/>
          </a:xfrm>
          <a:prstGeom prst="rect">
            <a:avLst/>
          </a:prstGeom>
          <a:noFill/>
        </p:spPr>
        <p:txBody>
          <a:bodyPr wrap="square">
            <a:spAutoFit/>
          </a:bodyPr>
          <a:lstStyle/>
          <a:p>
            <a:pPr algn="ctr">
              <a:defRPr sz="1200" b="0">
                <a:solidFill>
                  <a:srgbClr val="E2E8F0"/>
                </a:solidFill>
                <a:latin typeface="Calibri"/>
              </a:defRPr>
            </a:pPr>
            <a:r>
              <a:t>✗</a:t>
            </a:r>
          </a:p>
        </p:txBody>
      </p:sp>
      <p:sp>
        <p:nvSpPr>
          <p:cNvPr id="26" name="Rectangle 25"/>
          <p:cNvSpPr/>
          <p:nvPr/>
        </p:nvSpPr>
        <p:spPr>
          <a:xfrm>
            <a:off x="9144000" y="1719072"/>
            <a:ext cx="1463040" cy="438912"/>
          </a:xfrm>
          <a:prstGeom prst="rect">
            <a:avLst/>
          </a:prstGeom>
          <a:solidFill>
            <a:srgbClr val="DBEAFE"/>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235440" y="1764792"/>
            <a:ext cx="1280160" cy="347472"/>
          </a:xfrm>
          <a:prstGeom prst="rect">
            <a:avLst/>
          </a:prstGeom>
          <a:noFill/>
        </p:spPr>
        <p:txBody>
          <a:bodyPr wrap="square">
            <a:spAutoFit/>
          </a:bodyPr>
          <a:lstStyle/>
          <a:p>
            <a:pPr algn="ctr">
              <a:defRPr sz="1200" b="1">
                <a:solidFill>
                  <a:srgbClr val="059669"/>
                </a:solidFill>
                <a:latin typeface="Calibri"/>
              </a:defRPr>
            </a:pPr>
            <a:r>
              <a:t>✓</a:t>
            </a:r>
          </a:p>
        </p:txBody>
      </p:sp>
      <p:sp>
        <p:nvSpPr>
          <p:cNvPr id="28" name="Rectangle 27"/>
          <p:cNvSpPr/>
          <p:nvPr/>
        </p:nvSpPr>
        <p:spPr>
          <a:xfrm>
            <a:off x="1097280" y="2157984"/>
            <a:ext cx="2743200" cy="438912"/>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188720" y="2203703"/>
            <a:ext cx="2560320" cy="347472"/>
          </a:xfrm>
          <a:prstGeom prst="rect">
            <a:avLst/>
          </a:prstGeom>
          <a:noFill/>
        </p:spPr>
        <p:txBody>
          <a:bodyPr wrap="square">
            <a:spAutoFit/>
          </a:bodyPr>
          <a:lstStyle/>
          <a:p>
            <a:pPr algn="l">
              <a:defRPr sz="1100" b="0">
                <a:solidFill>
                  <a:srgbClr val="334155"/>
                </a:solidFill>
                <a:latin typeface="Calibri"/>
              </a:defRPr>
            </a:pPr>
            <a:r>
              <a:t>AI Code Security Scanning</a:t>
            </a:r>
          </a:p>
        </p:txBody>
      </p:sp>
      <p:sp>
        <p:nvSpPr>
          <p:cNvPr id="30" name="Rectangle 29"/>
          <p:cNvSpPr/>
          <p:nvPr/>
        </p:nvSpPr>
        <p:spPr>
          <a:xfrm>
            <a:off x="3840480" y="2157984"/>
            <a:ext cx="1463040" cy="438912"/>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931920" y="2203703"/>
            <a:ext cx="1280160" cy="347472"/>
          </a:xfrm>
          <a:prstGeom prst="rect">
            <a:avLst/>
          </a:prstGeom>
          <a:noFill/>
        </p:spPr>
        <p:txBody>
          <a:bodyPr wrap="square">
            <a:spAutoFit/>
          </a:bodyPr>
          <a:lstStyle/>
          <a:p>
            <a:pPr algn="ctr">
              <a:defRPr sz="1200" b="0">
                <a:solidFill>
                  <a:srgbClr val="D97706"/>
                </a:solidFill>
                <a:latin typeface="Calibri"/>
              </a:defRPr>
            </a:pPr>
            <a:r>
              <a:t>~</a:t>
            </a:r>
          </a:p>
        </p:txBody>
      </p:sp>
      <p:sp>
        <p:nvSpPr>
          <p:cNvPr id="32" name="Rectangle 31"/>
          <p:cNvSpPr/>
          <p:nvPr/>
        </p:nvSpPr>
        <p:spPr>
          <a:xfrm>
            <a:off x="5303520" y="2157984"/>
            <a:ext cx="1280160" cy="438912"/>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394960" y="2203703"/>
            <a:ext cx="1097280" cy="347472"/>
          </a:xfrm>
          <a:prstGeom prst="rect">
            <a:avLst/>
          </a:prstGeom>
          <a:noFill/>
        </p:spPr>
        <p:txBody>
          <a:bodyPr wrap="square">
            <a:spAutoFit/>
          </a:bodyPr>
          <a:lstStyle/>
          <a:p>
            <a:pPr algn="ctr">
              <a:defRPr sz="1200" b="0">
                <a:solidFill>
                  <a:srgbClr val="E2E8F0"/>
                </a:solidFill>
                <a:latin typeface="Calibri"/>
              </a:defRPr>
            </a:pPr>
            <a:r>
              <a:t>✗</a:t>
            </a:r>
          </a:p>
        </p:txBody>
      </p:sp>
      <p:sp>
        <p:nvSpPr>
          <p:cNvPr id="34" name="Rectangle 33"/>
          <p:cNvSpPr/>
          <p:nvPr/>
        </p:nvSpPr>
        <p:spPr>
          <a:xfrm>
            <a:off x="6583680" y="2157984"/>
            <a:ext cx="1280160" cy="438912"/>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675120" y="2203703"/>
            <a:ext cx="1097280" cy="347472"/>
          </a:xfrm>
          <a:prstGeom prst="rect">
            <a:avLst/>
          </a:prstGeom>
          <a:noFill/>
        </p:spPr>
        <p:txBody>
          <a:bodyPr wrap="square">
            <a:spAutoFit/>
          </a:bodyPr>
          <a:lstStyle/>
          <a:p>
            <a:pPr algn="ctr">
              <a:defRPr sz="1200" b="0">
                <a:solidFill>
                  <a:srgbClr val="D97706"/>
                </a:solidFill>
                <a:latin typeface="Calibri"/>
              </a:defRPr>
            </a:pPr>
            <a:r>
              <a:t>~</a:t>
            </a:r>
          </a:p>
        </p:txBody>
      </p:sp>
      <p:sp>
        <p:nvSpPr>
          <p:cNvPr id="36" name="Rectangle 35"/>
          <p:cNvSpPr/>
          <p:nvPr/>
        </p:nvSpPr>
        <p:spPr>
          <a:xfrm>
            <a:off x="7863840" y="2157984"/>
            <a:ext cx="1280160" cy="438912"/>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955280" y="2203703"/>
            <a:ext cx="1097280" cy="347472"/>
          </a:xfrm>
          <a:prstGeom prst="rect">
            <a:avLst/>
          </a:prstGeom>
          <a:noFill/>
        </p:spPr>
        <p:txBody>
          <a:bodyPr wrap="square">
            <a:spAutoFit/>
          </a:bodyPr>
          <a:lstStyle/>
          <a:p>
            <a:pPr algn="ctr">
              <a:defRPr sz="1200" b="0">
                <a:solidFill>
                  <a:srgbClr val="E2E8F0"/>
                </a:solidFill>
                <a:latin typeface="Calibri"/>
              </a:defRPr>
            </a:pPr>
            <a:r>
              <a:t>✗</a:t>
            </a:r>
          </a:p>
        </p:txBody>
      </p:sp>
      <p:sp>
        <p:nvSpPr>
          <p:cNvPr id="38" name="Rectangle 37"/>
          <p:cNvSpPr/>
          <p:nvPr/>
        </p:nvSpPr>
        <p:spPr>
          <a:xfrm>
            <a:off x="9144000" y="2157984"/>
            <a:ext cx="1463040" cy="438912"/>
          </a:xfrm>
          <a:prstGeom prst="rect">
            <a:avLst/>
          </a:prstGeom>
          <a:solidFill>
            <a:srgbClr val="DBEAFE"/>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235440" y="2203703"/>
            <a:ext cx="1280160" cy="347472"/>
          </a:xfrm>
          <a:prstGeom prst="rect">
            <a:avLst/>
          </a:prstGeom>
          <a:noFill/>
        </p:spPr>
        <p:txBody>
          <a:bodyPr wrap="square">
            <a:spAutoFit/>
          </a:bodyPr>
          <a:lstStyle/>
          <a:p>
            <a:pPr algn="ctr">
              <a:defRPr sz="1200" b="1">
                <a:solidFill>
                  <a:srgbClr val="059669"/>
                </a:solidFill>
                <a:latin typeface="Calibri"/>
              </a:defRPr>
            </a:pPr>
            <a:r>
              <a:t>✓</a:t>
            </a:r>
          </a:p>
        </p:txBody>
      </p:sp>
      <p:sp>
        <p:nvSpPr>
          <p:cNvPr id="40" name="Rectangle 39"/>
          <p:cNvSpPr/>
          <p:nvPr/>
        </p:nvSpPr>
        <p:spPr>
          <a:xfrm>
            <a:off x="1097280" y="2596896"/>
            <a:ext cx="2743200" cy="438912"/>
          </a:xfrm>
          <a:prstGeom prst="rect">
            <a:avLst/>
          </a:prstGeom>
          <a:solidFill>
            <a:srgbClr val="F8FAFC"/>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188720" y="2642615"/>
            <a:ext cx="2560320" cy="347472"/>
          </a:xfrm>
          <a:prstGeom prst="rect">
            <a:avLst/>
          </a:prstGeom>
          <a:noFill/>
        </p:spPr>
        <p:txBody>
          <a:bodyPr wrap="square">
            <a:spAutoFit/>
          </a:bodyPr>
          <a:lstStyle/>
          <a:p>
            <a:pPr algn="l">
              <a:defRPr sz="1100" b="0">
                <a:solidFill>
                  <a:srgbClr val="334155"/>
                </a:solidFill>
                <a:latin typeface="Calibri"/>
              </a:defRPr>
            </a:pPr>
            <a:r>
              <a:t>Agentic Governance</a:t>
            </a:r>
          </a:p>
        </p:txBody>
      </p:sp>
      <p:sp>
        <p:nvSpPr>
          <p:cNvPr id="42" name="Rectangle 41"/>
          <p:cNvSpPr/>
          <p:nvPr/>
        </p:nvSpPr>
        <p:spPr>
          <a:xfrm>
            <a:off x="3840480" y="2596896"/>
            <a:ext cx="1463040" cy="438912"/>
          </a:xfrm>
          <a:prstGeom prst="rect">
            <a:avLst/>
          </a:prstGeom>
          <a:solidFill>
            <a:srgbClr val="F8FAFC"/>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931920" y="2642615"/>
            <a:ext cx="1280160" cy="347472"/>
          </a:xfrm>
          <a:prstGeom prst="rect">
            <a:avLst/>
          </a:prstGeom>
          <a:noFill/>
        </p:spPr>
        <p:txBody>
          <a:bodyPr wrap="square">
            <a:spAutoFit/>
          </a:bodyPr>
          <a:lstStyle/>
          <a:p>
            <a:pPr algn="ctr">
              <a:defRPr sz="1200" b="0">
                <a:solidFill>
                  <a:srgbClr val="E2E8F0"/>
                </a:solidFill>
                <a:latin typeface="Calibri"/>
              </a:defRPr>
            </a:pPr>
            <a:r>
              <a:t>✗</a:t>
            </a:r>
          </a:p>
        </p:txBody>
      </p:sp>
      <p:sp>
        <p:nvSpPr>
          <p:cNvPr id="44" name="Rectangle 43"/>
          <p:cNvSpPr/>
          <p:nvPr/>
        </p:nvSpPr>
        <p:spPr>
          <a:xfrm>
            <a:off x="5303520" y="2596896"/>
            <a:ext cx="1280160" cy="438912"/>
          </a:xfrm>
          <a:prstGeom prst="rect">
            <a:avLst/>
          </a:prstGeom>
          <a:solidFill>
            <a:srgbClr val="F8FAFC"/>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394960" y="2642615"/>
            <a:ext cx="1097280" cy="347472"/>
          </a:xfrm>
          <a:prstGeom prst="rect">
            <a:avLst/>
          </a:prstGeom>
          <a:noFill/>
        </p:spPr>
        <p:txBody>
          <a:bodyPr wrap="square">
            <a:spAutoFit/>
          </a:bodyPr>
          <a:lstStyle/>
          <a:p>
            <a:pPr algn="ctr">
              <a:defRPr sz="1200" b="0">
                <a:solidFill>
                  <a:srgbClr val="E2E8F0"/>
                </a:solidFill>
                <a:latin typeface="Calibri"/>
              </a:defRPr>
            </a:pPr>
            <a:r>
              <a:t>✗</a:t>
            </a:r>
          </a:p>
        </p:txBody>
      </p:sp>
      <p:sp>
        <p:nvSpPr>
          <p:cNvPr id="46" name="Rectangle 45"/>
          <p:cNvSpPr/>
          <p:nvPr/>
        </p:nvSpPr>
        <p:spPr>
          <a:xfrm>
            <a:off x="6583680" y="2596896"/>
            <a:ext cx="1280160" cy="438912"/>
          </a:xfrm>
          <a:prstGeom prst="rect">
            <a:avLst/>
          </a:prstGeom>
          <a:solidFill>
            <a:srgbClr val="F8FAFC"/>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675120" y="2642615"/>
            <a:ext cx="1097280" cy="347472"/>
          </a:xfrm>
          <a:prstGeom prst="rect">
            <a:avLst/>
          </a:prstGeom>
          <a:noFill/>
        </p:spPr>
        <p:txBody>
          <a:bodyPr wrap="square">
            <a:spAutoFit/>
          </a:bodyPr>
          <a:lstStyle/>
          <a:p>
            <a:pPr algn="ctr">
              <a:defRPr sz="1200" b="0">
                <a:solidFill>
                  <a:srgbClr val="E2E8F0"/>
                </a:solidFill>
                <a:latin typeface="Calibri"/>
              </a:defRPr>
            </a:pPr>
            <a:r>
              <a:t>✗</a:t>
            </a:r>
          </a:p>
        </p:txBody>
      </p:sp>
      <p:sp>
        <p:nvSpPr>
          <p:cNvPr id="48" name="Rectangle 47"/>
          <p:cNvSpPr/>
          <p:nvPr/>
        </p:nvSpPr>
        <p:spPr>
          <a:xfrm>
            <a:off x="7863840" y="2596896"/>
            <a:ext cx="1280160" cy="438912"/>
          </a:xfrm>
          <a:prstGeom prst="rect">
            <a:avLst/>
          </a:prstGeom>
          <a:solidFill>
            <a:srgbClr val="F8FAFC"/>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7955280" y="2642615"/>
            <a:ext cx="1097280" cy="347472"/>
          </a:xfrm>
          <a:prstGeom prst="rect">
            <a:avLst/>
          </a:prstGeom>
          <a:noFill/>
        </p:spPr>
        <p:txBody>
          <a:bodyPr wrap="square">
            <a:spAutoFit/>
          </a:bodyPr>
          <a:lstStyle/>
          <a:p>
            <a:pPr algn="ctr">
              <a:defRPr sz="1200" b="0">
                <a:solidFill>
                  <a:srgbClr val="E2E8F0"/>
                </a:solidFill>
                <a:latin typeface="Calibri"/>
              </a:defRPr>
            </a:pPr>
            <a:r>
              <a:t>✗</a:t>
            </a:r>
          </a:p>
        </p:txBody>
      </p:sp>
      <p:sp>
        <p:nvSpPr>
          <p:cNvPr id="50" name="Rectangle 49"/>
          <p:cNvSpPr/>
          <p:nvPr/>
        </p:nvSpPr>
        <p:spPr>
          <a:xfrm>
            <a:off x="9144000" y="2596896"/>
            <a:ext cx="1463040" cy="438912"/>
          </a:xfrm>
          <a:prstGeom prst="rect">
            <a:avLst/>
          </a:prstGeom>
          <a:solidFill>
            <a:srgbClr val="DBEAFE"/>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9235440" y="2642615"/>
            <a:ext cx="1280160" cy="347472"/>
          </a:xfrm>
          <a:prstGeom prst="rect">
            <a:avLst/>
          </a:prstGeom>
          <a:noFill/>
        </p:spPr>
        <p:txBody>
          <a:bodyPr wrap="square">
            <a:spAutoFit/>
          </a:bodyPr>
          <a:lstStyle/>
          <a:p>
            <a:pPr algn="ctr">
              <a:defRPr sz="1200" b="1">
                <a:solidFill>
                  <a:srgbClr val="059669"/>
                </a:solidFill>
                <a:latin typeface="Calibri"/>
              </a:defRPr>
            </a:pPr>
            <a:r>
              <a:t>✓</a:t>
            </a:r>
          </a:p>
        </p:txBody>
      </p:sp>
      <p:sp>
        <p:nvSpPr>
          <p:cNvPr id="52" name="Rectangle 51"/>
          <p:cNvSpPr/>
          <p:nvPr/>
        </p:nvSpPr>
        <p:spPr>
          <a:xfrm>
            <a:off x="1097280" y="3035808"/>
            <a:ext cx="2743200" cy="438912"/>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1188720" y="3081527"/>
            <a:ext cx="2560320" cy="347472"/>
          </a:xfrm>
          <a:prstGeom prst="rect">
            <a:avLst/>
          </a:prstGeom>
          <a:noFill/>
        </p:spPr>
        <p:txBody>
          <a:bodyPr wrap="square">
            <a:spAutoFit/>
          </a:bodyPr>
          <a:lstStyle/>
          <a:p>
            <a:pPr algn="l">
              <a:defRPr sz="1100" b="0">
                <a:solidFill>
                  <a:srgbClr val="334155"/>
                </a:solidFill>
                <a:latin typeface="Calibri"/>
              </a:defRPr>
            </a:pPr>
            <a:r>
              <a:t>AI Ethics Framework</a:t>
            </a:r>
          </a:p>
        </p:txBody>
      </p:sp>
      <p:sp>
        <p:nvSpPr>
          <p:cNvPr id="54" name="Rectangle 53"/>
          <p:cNvSpPr/>
          <p:nvPr/>
        </p:nvSpPr>
        <p:spPr>
          <a:xfrm>
            <a:off x="3840480" y="3035808"/>
            <a:ext cx="1463040" cy="438912"/>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3931920" y="3081527"/>
            <a:ext cx="1280160" cy="347472"/>
          </a:xfrm>
          <a:prstGeom prst="rect">
            <a:avLst/>
          </a:prstGeom>
          <a:noFill/>
        </p:spPr>
        <p:txBody>
          <a:bodyPr wrap="square">
            <a:spAutoFit/>
          </a:bodyPr>
          <a:lstStyle/>
          <a:p>
            <a:pPr algn="ctr">
              <a:defRPr sz="1200" b="0">
                <a:solidFill>
                  <a:srgbClr val="D97706"/>
                </a:solidFill>
                <a:latin typeface="Calibri"/>
              </a:defRPr>
            </a:pPr>
            <a:r>
              <a:t>~</a:t>
            </a:r>
          </a:p>
        </p:txBody>
      </p:sp>
      <p:sp>
        <p:nvSpPr>
          <p:cNvPr id="56" name="Rectangle 55"/>
          <p:cNvSpPr/>
          <p:nvPr/>
        </p:nvSpPr>
        <p:spPr>
          <a:xfrm>
            <a:off x="5303520" y="3035808"/>
            <a:ext cx="1280160" cy="438912"/>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5394960" y="3081527"/>
            <a:ext cx="1097280" cy="347472"/>
          </a:xfrm>
          <a:prstGeom prst="rect">
            <a:avLst/>
          </a:prstGeom>
          <a:noFill/>
        </p:spPr>
        <p:txBody>
          <a:bodyPr wrap="square">
            <a:spAutoFit/>
          </a:bodyPr>
          <a:lstStyle/>
          <a:p>
            <a:pPr algn="ctr">
              <a:defRPr sz="1200" b="0">
                <a:solidFill>
                  <a:srgbClr val="E2E8F0"/>
                </a:solidFill>
                <a:latin typeface="Calibri"/>
              </a:defRPr>
            </a:pPr>
            <a:r>
              <a:t>✗</a:t>
            </a:r>
          </a:p>
        </p:txBody>
      </p:sp>
      <p:sp>
        <p:nvSpPr>
          <p:cNvPr id="58" name="Rectangle 57"/>
          <p:cNvSpPr/>
          <p:nvPr/>
        </p:nvSpPr>
        <p:spPr>
          <a:xfrm>
            <a:off x="6583680" y="3035808"/>
            <a:ext cx="1280160" cy="438912"/>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6675120" y="3081527"/>
            <a:ext cx="1097280" cy="347472"/>
          </a:xfrm>
          <a:prstGeom prst="rect">
            <a:avLst/>
          </a:prstGeom>
          <a:noFill/>
        </p:spPr>
        <p:txBody>
          <a:bodyPr wrap="square">
            <a:spAutoFit/>
          </a:bodyPr>
          <a:lstStyle/>
          <a:p>
            <a:pPr algn="ctr">
              <a:defRPr sz="1200" b="0">
                <a:solidFill>
                  <a:srgbClr val="E2E8F0"/>
                </a:solidFill>
                <a:latin typeface="Calibri"/>
              </a:defRPr>
            </a:pPr>
            <a:r>
              <a:t>✗</a:t>
            </a:r>
          </a:p>
        </p:txBody>
      </p:sp>
      <p:sp>
        <p:nvSpPr>
          <p:cNvPr id="60" name="Rectangle 59"/>
          <p:cNvSpPr/>
          <p:nvPr/>
        </p:nvSpPr>
        <p:spPr>
          <a:xfrm>
            <a:off x="7863840" y="3035808"/>
            <a:ext cx="1280160" cy="438912"/>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7955280" y="3081527"/>
            <a:ext cx="1097280" cy="347472"/>
          </a:xfrm>
          <a:prstGeom prst="rect">
            <a:avLst/>
          </a:prstGeom>
          <a:noFill/>
        </p:spPr>
        <p:txBody>
          <a:bodyPr wrap="square">
            <a:spAutoFit/>
          </a:bodyPr>
          <a:lstStyle/>
          <a:p>
            <a:pPr algn="ctr">
              <a:defRPr sz="1200" b="0">
                <a:solidFill>
                  <a:srgbClr val="D97706"/>
                </a:solidFill>
                <a:latin typeface="Calibri"/>
              </a:defRPr>
            </a:pPr>
            <a:r>
              <a:t>~</a:t>
            </a:r>
          </a:p>
        </p:txBody>
      </p:sp>
      <p:sp>
        <p:nvSpPr>
          <p:cNvPr id="62" name="Rectangle 61"/>
          <p:cNvSpPr/>
          <p:nvPr/>
        </p:nvSpPr>
        <p:spPr>
          <a:xfrm>
            <a:off x="9144000" y="3035808"/>
            <a:ext cx="1463040" cy="438912"/>
          </a:xfrm>
          <a:prstGeom prst="rect">
            <a:avLst/>
          </a:prstGeom>
          <a:solidFill>
            <a:srgbClr val="DBEAFE"/>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9235440" y="3081527"/>
            <a:ext cx="1280160" cy="347472"/>
          </a:xfrm>
          <a:prstGeom prst="rect">
            <a:avLst/>
          </a:prstGeom>
          <a:noFill/>
        </p:spPr>
        <p:txBody>
          <a:bodyPr wrap="square">
            <a:spAutoFit/>
          </a:bodyPr>
          <a:lstStyle/>
          <a:p>
            <a:pPr algn="ctr">
              <a:defRPr sz="1200" b="1">
                <a:solidFill>
                  <a:srgbClr val="059669"/>
                </a:solidFill>
                <a:latin typeface="Calibri"/>
              </a:defRPr>
            </a:pPr>
            <a:r>
              <a:t>✓</a:t>
            </a:r>
          </a:p>
        </p:txBody>
      </p:sp>
      <p:sp>
        <p:nvSpPr>
          <p:cNvPr id="64" name="Rectangle 63"/>
          <p:cNvSpPr/>
          <p:nvPr/>
        </p:nvSpPr>
        <p:spPr>
          <a:xfrm>
            <a:off x="1097280" y="3474720"/>
            <a:ext cx="2743200" cy="438912"/>
          </a:xfrm>
          <a:prstGeom prst="rect">
            <a:avLst/>
          </a:prstGeom>
          <a:solidFill>
            <a:srgbClr val="F8FAFC"/>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1188720" y="3520439"/>
            <a:ext cx="2560320" cy="347472"/>
          </a:xfrm>
          <a:prstGeom prst="rect">
            <a:avLst/>
          </a:prstGeom>
          <a:noFill/>
        </p:spPr>
        <p:txBody>
          <a:bodyPr wrap="square">
            <a:spAutoFit/>
          </a:bodyPr>
          <a:lstStyle/>
          <a:p>
            <a:pPr algn="l">
              <a:defRPr sz="1100" b="0">
                <a:solidFill>
                  <a:srgbClr val="334155"/>
                </a:solidFill>
                <a:latin typeface="Calibri"/>
              </a:defRPr>
            </a:pPr>
            <a:r>
              <a:t>Memory Safety Initiative</a:t>
            </a:r>
          </a:p>
        </p:txBody>
      </p:sp>
      <p:sp>
        <p:nvSpPr>
          <p:cNvPr id="66" name="Rectangle 65"/>
          <p:cNvSpPr/>
          <p:nvPr/>
        </p:nvSpPr>
        <p:spPr>
          <a:xfrm>
            <a:off x="3840480" y="3474720"/>
            <a:ext cx="1463040" cy="438912"/>
          </a:xfrm>
          <a:prstGeom prst="rect">
            <a:avLst/>
          </a:prstGeom>
          <a:solidFill>
            <a:srgbClr val="F8FAFC"/>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3931920" y="3520439"/>
            <a:ext cx="1280160" cy="347472"/>
          </a:xfrm>
          <a:prstGeom prst="rect">
            <a:avLst/>
          </a:prstGeom>
          <a:noFill/>
        </p:spPr>
        <p:txBody>
          <a:bodyPr wrap="square">
            <a:spAutoFit/>
          </a:bodyPr>
          <a:lstStyle/>
          <a:p>
            <a:pPr algn="ctr">
              <a:defRPr sz="1200" b="0">
                <a:solidFill>
                  <a:srgbClr val="D97706"/>
                </a:solidFill>
                <a:latin typeface="Calibri"/>
              </a:defRPr>
            </a:pPr>
            <a:r>
              <a:t>~</a:t>
            </a:r>
          </a:p>
        </p:txBody>
      </p:sp>
      <p:sp>
        <p:nvSpPr>
          <p:cNvPr id="68" name="Rectangle 67"/>
          <p:cNvSpPr/>
          <p:nvPr/>
        </p:nvSpPr>
        <p:spPr>
          <a:xfrm>
            <a:off x="5303520" y="3474720"/>
            <a:ext cx="1280160" cy="438912"/>
          </a:xfrm>
          <a:prstGeom prst="rect">
            <a:avLst/>
          </a:prstGeom>
          <a:solidFill>
            <a:srgbClr val="F8FAFC"/>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5394960" y="3520439"/>
            <a:ext cx="1097280" cy="347472"/>
          </a:xfrm>
          <a:prstGeom prst="rect">
            <a:avLst/>
          </a:prstGeom>
          <a:noFill/>
        </p:spPr>
        <p:txBody>
          <a:bodyPr wrap="square">
            <a:spAutoFit/>
          </a:bodyPr>
          <a:lstStyle/>
          <a:p>
            <a:pPr algn="ctr">
              <a:defRPr sz="1200" b="0">
                <a:solidFill>
                  <a:srgbClr val="E2E8F0"/>
                </a:solidFill>
                <a:latin typeface="Calibri"/>
              </a:defRPr>
            </a:pPr>
            <a:r>
              <a:t>✗</a:t>
            </a:r>
          </a:p>
        </p:txBody>
      </p:sp>
      <p:sp>
        <p:nvSpPr>
          <p:cNvPr id="70" name="Rectangle 69"/>
          <p:cNvSpPr/>
          <p:nvPr/>
        </p:nvSpPr>
        <p:spPr>
          <a:xfrm>
            <a:off x="6583680" y="3474720"/>
            <a:ext cx="1280160" cy="438912"/>
          </a:xfrm>
          <a:prstGeom prst="rect">
            <a:avLst/>
          </a:prstGeom>
          <a:solidFill>
            <a:srgbClr val="F8FAFC"/>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6675120" y="3520439"/>
            <a:ext cx="1097280" cy="347472"/>
          </a:xfrm>
          <a:prstGeom prst="rect">
            <a:avLst/>
          </a:prstGeom>
          <a:noFill/>
        </p:spPr>
        <p:txBody>
          <a:bodyPr wrap="square">
            <a:spAutoFit/>
          </a:bodyPr>
          <a:lstStyle/>
          <a:p>
            <a:pPr algn="ctr">
              <a:defRPr sz="1200" b="0">
                <a:solidFill>
                  <a:srgbClr val="E2E8F0"/>
                </a:solidFill>
                <a:latin typeface="Calibri"/>
              </a:defRPr>
            </a:pPr>
            <a:r>
              <a:t>✗</a:t>
            </a:r>
          </a:p>
        </p:txBody>
      </p:sp>
      <p:sp>
        <p:nvSpPr>
          <p:cNvPr id="72" name="Rectangle 71"/>
          <p:cNvSpPr/>
          <p:nvPr/>
        </p:nvSpPr>
        <p:spPr>
          <a:xfrm>
            <a:off x="7863840" y="3474720"/>
            <a:ext cx="1280160" cy="438912"/>
          </a:xfrm>
          <a:prstGeom prst="rect">
            <a:avLst/>
          </a:prstGeom>
          <a:solidFill>
            <a:srgbClr val="F8FAFC"/>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7955280" y="3520439"/>
            <a:ext cx="1097280" cy="347472"/>
          </a:xfrm>
          <a:prstGeom prst="rect">
            <a:avLst/>
          </a:prstGeom>
          <a:noFill/>
        </p:spPr>
        <p:txBody>
          <a:bodyPr wrap="square">
            <a:spAutoFit/>
          </a:bodyPr>
          <a:lstStyle/>
          <a:p>
            <a:pPr algn="ctr">
              <a:defRPr sz="1200" b="0">
                <a:solidFill>
                  <a:srgbClr val="E2E8F0"/>
                </a:solidFill>
                <a:latin typeface="Calibri"/>
              </a:defRPr>
            </a:pPr>
            <a:r>
              <a:t>✗</a:t>
            </a:r>
          </a:p>
        </p:txBody>
      </p:sp>
      <p:sp>
        <p:nvSpPr>
          <p:cNvPr id="74" name="Rectangle 73"/>
          <p:cNvSpPr/>
          <p:nvPr/>
        </p:nvSpPr>
        <p:spPr>
          <a:xfrm>
            <a:off x="9144000" y="3474720"/>
            <a:ext cx="1463040" cy="438912"/>
          </a:xfrm>
          <a:prstGeom prst="rect">
            <a:avLst/>
          </a:prstGeom>
          <a:solidFill>
            <a:srgbClr val="DBEAFE"/>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9235440" y="3520439"/>
            <a:ext cx="1280160" cy="347472"/>
          </a:xfrm>
          <a:prstGeom prst="rect">
            <a:avLst/>
          </a:prstGeom>
          <a:noFill/>
        </p:spPr>
        <p:txBody>
          <a:bodyPr wrap="square">
            <a:spAutoFit/>
          </a:bodyPr>
          <a:lstStyle/>
          <a:p>
            <a:pPr algn="ctr">
              <a:defRPr sz="1200" b="1">
                <a:solidFill>
                  <a:srgbClr val="059669"/>
                </a:solidFill>
                <a:latin typeface="Calibri"/>
              </a:defRPr>
            </a:pPr>
            <a:r>
              <a:t>✓</a:t>
            </a:r>
          </a:p>
        </p:txBody>
      </p:sp>
      <p:sp>
        <p:nvSpPr>
          <p:cNvPr id="76" name="Rectangle 75"/>
          <p:cNvSpPr/>
          <p:nvPr/>
        </p:nvSpPr>
        <p:spPr>
          <a:xfrm>
            <a:off x="1097280" y="3913631"/>
            <a:ext cx="2743200" cy="438912"/>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1188720" y="3959351"/>
            <a:ext cx="2560320" cy="347472"/>
          </a:xfrm>
          <a:prstGeom prst="rect">
            <a:avLst/>
          </a:prstGeom>
          <a:noFill/>
        </p:spPr>
        <p:txBody>
          <a:bodyPr wrap="square">
            <a:spAutoFit/>
          </a:bodyPr>
          <a:lstStyle/>
          <a:p>
            <a:pPr algn="l">
              <a:defRPr sz="1100" b="0">
                <a:solidFill>
                  <a:srgbClr val="334155"/>
                </a:solidFill>
                <a:latin typeface="Calibri"/>
              </a:defRPr>
            </a:pPr>
            <a:r>
              <a:t>OSS Model Evaluation</a:t>
            </a:r>
          </a:p>
        </p:txBody>
      </p:sp>
      <p:sp>
        <p:nvSpPr>
          <p:cNvPr id="78" name="Rectangle 77"/>
          <p:cNvSpPr/>
          <p:nvPr/>
        </p:nvSpPr>
        <p:spPr>
          <a:xfrm>
            <a:off x="3840480" y="3913631"/>
            <a:ext cx="1463040" cy="438912"/>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3931920" y="3959351"/>
            <a:ext cx="1280160" cy="347472"/>
          </a:xfrm>
          <a:prstGeom prst="rect">
            <a:avLst/>
          </a:prstGeom>
          <a:noFill/>
        </p:spPr>
        <p:txBody>
          <a:bodyPr wrap="square">
            <a:spAutoFit/>
          </a:bodyPr>
          <a:lstStyle/>
          <a:p>
            <a:pPr algn="ctr">
              <a:defRPr sz="1200" b="0">
                <a:solidFill>
                  <a:srgbClr val="E2E8F0"/>
                </a:solidFill>
                <a:latin typeface="Calibri"/>
              </a:defRPr>
            </a:pPr>
            <a:r>
              <a:t>✗</a:t>
            </a:r>
          </a:p>
        </p:txBody>
      </p:sp>
      <p:sp>
        <p:nvSpPr>
          <p:cNvPr id="80" name="Rectangle 79"/>
          <p:cNvSpPr/>
          <p:nvPr/>
        </p:nvSpPr>
        <p:spPr>
          <a:xfrm>
            <a:off x="5303520" y="3913631"/>
            <a:ext cx="1280160" cy="438912"/>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5394960" y="3959351"/>
            <a:ext cx="1097280" cy="347472"/>
          </a:xfrm>
          <a:prstGeom prst="rect">
            <a:avLst/>
          </a:prstGeom>
          <a:noFill/>
        </p:spPr>
        <p:txBody>
          <a:bodyPr wrap="square">
            <a:spAutoFit/>
          </a:bodyPr>
          <a:lstStyle/>
          <a:p>
            <a:pPr algn="ctr">
              <a:defRPr sz="1200" b="0">
                <a:solidFill>
                  <a:srgbClr val="E2E8F0"/>
                </a:solidFill>
                <a:latin typeface="Calibri"/>
              </a:defRPr>
            </a:pPr>
            <a:r>
              <a:t>✗</a:t>
            </a:r>
          </a:p>
        </p:txBody>
      </p:sp>
      <p:sp>
        <p:nvSpPr>
          <p:cNvPr id="82" name="Rectangle 81"/>
          <p:cNvSpPr/>
          <p:nvPr/>
        </p:nvSpPr>
        <p:spPr>
          <a:xfrm>
            <a:off x="6583680" y="3913631"/>
            <a:ext cx="1280160" cy="438912"/>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6675120" y="3959351"/>
            <a:ext cx="1097280" cy="347472"/>
          </a:xfrm>
          <a:prstGeom prst="rect">
            <a:avLst/>
          </a:prstGeom>
          <a:noFill/>
        </p:spPr>
        <p:txBody>
          <a:bodyPr wrap="square">
            <a:spAutoFit/>
          </a:bodyPr>
          <a:lstStyle/>
          <a:p>
            <a:pPr algn="ctr">
              <a:defRPr sz="1200" b="0">
                <a:solidFill>
                  <a:srgbClr val="E2E8F0"/>
                </a:solidFill>
                <a:latin typeface="Calibri"/>
              </a:defRPr>
            </a:pPr>
            <a:r>
              <a:t>✗</a:t>
            </a:r>
          </a:p>
        </p:txBody>
      </p:sp>
      <p:sp>
        <p:nvSpPr>
          <p:cNvPr id="84" name="Rectangle 83"/>
          <p:cNvSpPr/>
          <p:nvPr/>
        </p:nvSpPr>
        <p:spPr>
          <a:xfrm>
            <a:off x="7863840" y="3913631"/>
            <a:ext cx="1280160" cy="438912"/>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7955280" y="3959351"/>
            <a:ext cx="1097280" cy="347472"/>
          </a:xfrm>
          <a:prstGeom prst="rect">
            <a:avLst/>
          </a:prstGeom>
          <a:noFill/>
        </p:spPr>
        <p:txBody>
          <a:bodyPr wrap="square">
            <a:spAutoFit/>
          </a:bodyPr>
          <a:lstStyle/>
          <a:p>
            <a:pPr algn="ctr">
              <a:defRPr sz="1200" b="0">
                <a:solidFill>
                  <a:srgbClr val="E2E8F0"/>
                </a:solidFill>
                <a:latin typeface="Calibri"/>
              </a:defRPr>
            </a:pPr>
            <a:r>
              <a:t>✗</a:t>
            </a:r>
          </a:p>
        </p:txBody>
      </p:sp>
      <p:sp>
        <p:nvSpPr>
          <p:cNvPr id="86" name="Rectangle 85"/>
          <p:cNvSpPr/>
          <p:nvPr/>
        </p:nvSpPr>
        <p:spPr>
          <a:xfrm>
            <a:off x="9144000" y="3913631"/>
            <a:ext cx="1463040" cy="438912"/>
          </a:xfrm>
          <a:prstGeom prst="rect">
            <a:avLst/>
          </a:prstGeom>
          <a:solidFill>
            <a:srgbClr val="DBEAFE"/>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9235440" y="3959351"/>
            <a:ext cx="1280160" cy="347472"/>
          </a:xfrm>
          <a:prstGeom prst="rect">
            <a:avLst/>
          </a:prstGeom>
          <a:noFill/>
        </p:spPr>
        <p:txBody>
          <a:bodyPr wrap="square">
            <a:spAutoFit/>
          </a:bodyPr>
          <a:lstStyle/>
          <a:p>
            <a:pPr algn="ctr">
              <a:defRPr sz="1200" b="1">
                <a:solidFill>
                  <a:srgbClr val="059669"/>
                </a:solidFill>
                <a:latin typeface="Calibri"/>
              </a:defRPr>
            </a:pPr>
            <a:r>
              <a:t>✓</a:t>
            </a:r>
          </a:p>
        </p:txBody>
      </p:sp>
      <p:sp>
        <p:nvSpPr>
          <p:cNvPr id="88" name="Rectangle 87"/>
          <p:cNvSpPr/>
          <p:nvPr/>
        </p:nvSpPr>
        <p:spPr>
          <a:xfrm>
            <a:off x="1097280" y="4352544"/>
            <a:ext cx="2743200" cy="438912"/>
          </a:xfrm>
          <a:prstGeom prst="rect">
            <a:avLst/>
          </a:prstGeom>
          <a:solidFill>
            <a:srgbClr val="F8FAFC"/>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1188720" y="4398264"/>
            <a:ext cx="2560320" cy="347472"/>
          </a:xfrm>
          <a:prstGeom prst="rect">
            <a:avLst/>
          </a:prstGeom>
          <a:noFill/>
        </p:spPr>
        <p:txBody>
          <a:bodyPr wrap="square">
            <a:spAutoFit/>
          </a:bodyPr>
          <a:lstStyle/>
          <a:p>
            <a:pPr algn="l">
              <a:defRPr sz="1100" b="0">
                <a:solidFill>
                  <a:srgbClr val="334155"/>
                </a:solidFill>
                <a:latin typeface="Calibri"/>
              </a:defRPr>
            </a:pPr>
            <a:r>
              <a:t>AI Code Provenance</a:t>
            </a:r>
          </a:p>
        </p:txBody>
      </p:sp>
      <p:sp>
        <p:nvSpPr>
          <p:cNvPr id="90" name="Rectangle 89"/>
          <p:cNvSpPr/>
          <p:nvPr/>
        </p:nvSpPr>
        <p:spPr>
          <a:xfrm>
            <a:off x="3840480" y="4352544"/>
            <a:ext cx="1463040" cy="438912"/>
          </a:xfrm>
          <a:prstGeom prst="rect">
            <a:avLst/>
          </a:prstGeom>
          <a:solidFill>
            <a:srgbClr val="F8FAFC"/>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3931920" y="4398264"/>
            <a:ext cx="1280160" cy="347472"/>
          </a:xfrm>
          <a:prstGeom prst="rect">
            <a:avLst/>
          </a:prstGeom>
          <a:noFill/>
        </p:spPr>
        <p:txBody>
          <a:bodyPr wrap="square">
            <a:spAutoFit/>
          </a:bodyPr>
          <a:lstStyle/>
          <a:p>
            <a:pPr algn="ctr">
              <a:defRPr sz="1200" b="0">
                <a:solidFill>
                  <a:srgbClr val="E2E8F0"/>
                </a:solidFill>
                <a:latin typeface="Calibri"/>
              </a:defRPr>
            </a:pPr>
            <a:r>
              <a:t>✗</a:t>
            </a:r>
          </a:p>
        </p:txBody>
      </p:sp>
      <p:sp>
        <p:nvSpPr>
          <p:cNvPr id="92" name="Rectangle 91"/>
          <p:cNvSpPr/>
          <p:nvPr/>
        </p:nvSpPr>
        <p:spPr>
          <a:xfrm>
            <a:off x="5303520" y="4352544"/>
            <a:ext cx="1280160" cy="438912"/>
          </a:xfrm>
          <a:prstGeom prst="rect">
            <a:avLst/>
          </a:prstGeom>
          <a:solidFill>
            <a:srgbClr val="F8FAFC"/>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5394960" y="4398264"/>
            <a:ext cx="1097280" cy="347472"/>
          </a:xfrm>
          <a:prstGeom prst="rect">
            <a:avLst/>
          </a:prstGeom>
          <a:noFill/>
        </p:spPr>
        <p:txBody>
          <a:bodyPr wrap="square">
            <a:spAutoFit/>
          </a:bodyPr>
          <a:lstStyle/>
          <a:p>
            <a:pPr algn="ctr">
              <a:defRPr sz="1200" b="0">
                <a:solidFill>
                  <a:srgbClr val="E2E8F0"/>
                </a:solidFill>
                <a:latin typeface="Calibri"/>
              </a:defRPr>
            </a:pPr>
            <a:r>
              <a:t>✗</a:t>
            </a:r>
          </a:p>
        </p:txBody>
      </p:sp>
      <p:sp>
        <p:nvSpPr>
          <p:cNvPr id="94" name="Rectangle 93"/>
          <p:cNvSpPr/>
          <p:nvPr/>
        </p:nvSpPr>
        <p:spPr>
          <a:xfrm>
            <a:off x="6583680" y="4352544"/>
            <a:ext cx="1280160" cy="438912"/>
          </a:xfrm>
          <a:prstGeom prst="rect">
            <a:avLst/>
          </a:prstGeom>
          <a:solidFill>
            <a:srgbClr val="F8FAFC"/>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6675120" y="4398264"/>
            <a:ext cx="1097280" cy="347472"/>
          </a:xfrm>
          <a:prstGeom prst="rect">
            <a:avLst/>
          </a:prstGeom>
          <a:noFill/>
        </p:spPr>
        <p:txBody>
          <a:bodyPr wrap="square">
            <a:spAutoFit/>
          </a:bodyPr>
          <a:lstStyle/>
          <a:p>
            <a:pPr algn="ctr">
              <a:defRPr sz="1200" b="0">
                <a:solidFill>
                  <a:srgbClr val="E2E8F0"/>
                </a:solidFill>
                <a:latin typeface="Calibri"/>
              </a:defRPr>
            </a:pPr>
            <a:r>
              <a:t>✗</a:t>
            </a:r>
          </a:p>
        </p:txBody>
      </p:sp>
      <p:sp>
        <p:nvSpPr>
          <p:cNvPr id="96" name="Rectangle 95"/>
          <p:cNvSpPr/>
          <p:nvPr/>
        </p:nvSpPr>
        <p:spPr>
          <a:xfrm>
            <a:off x="7863840" y="4352544"/>
            <a:ext cx="1280160" cy="438912"/>
          </a:xfrm>
          <a:prstGeom prst="rect">
            <a:avLst/>
          </a:prstGeom>
          <a:solidFill>
            <a:srgbClr val="F8FAFC"/>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7955280" y="4398264"/>
            <a:ext cx="1097280" cy="347472"/>
          </a:xfrm>
          <a:prstGeom prst="rect">
            <a:avLst/>
          </a:prstGeom>
          <a:noFill/>
        </p:spPr>
        <p:txBody>
          <a:bodyPr wrap="square">
            <a:spAutoFit/>
          </a:bodyPr>
          <a:lstStyle/>
          <a:p>
            <a:pPr algn="ctr">
              <a:defRPr sz="1200" b="0">
                <a:solidFill>
                  <a:srgbClr val="E2E8F0"/>
                </a:solidFill>
                <a:latin typeface="Calibri"/>
              </a:defRPr>
            </a:pPr>
            <a:r>
              <a:t>✗</a:t>
            </a:r>
          </a:p>
        </p:txBody>
      </p:sp>
      <p:sp>
        <p:nvSpPr>
          <p:cNvPr id="98" name="Rectangle 97"/>
          <p:cNvSpPr/>
          <p:nvPr/>
        </p:nvSpPr>
        <p:spPr>
          <a:xfrm>
            <a:off x="9144000" y="4352544"/>
            <a:ext cx="1463040" cy="438912"/>
          </a:xfrm>
          <a:prstGeom prst="rect">
            <a:avLst/>
          </a:prstGeom>
          <a:solidFill>
            <a:srgbClr val="DBEAFE"/>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9235440" y="4398264"/>
            <a:ext cx="1280160" cy="347472"/>
          </a:xfrm>
          <a:prstGeom prst="rect">
            <a:avLst/>
          </a:prstGeom>
          <a:noFill/>
        </p:spPr>
        <p:txBody>
          <a:bodyPr wrap="square">
            <a:spAutoFit/>
          </a:bodyPr>
          <a:lstStyle/>
          <a:p>
            <a:pPr algn="ctr">
              <a:defRPr sz="1200" b="1">
                <a:solidFill>
                  <a:srgbClr val="059669"/>
                </a:solidFill>
                <a:latin typeface="Calibri"/>
              </a:defRPr>
            </a:pPr>
            <a:r>
              <a:t>✓</a:t>
            </a:r>
          </a:p>
        </p:txBody>
      </p:sp>
      <p:sp>
        <p:nvSpPr>
          <p:cNvPr id="100" name="Rectangle 99"/>
          <p:cNvSpPr/>
          <p:nvPr/>
        </p:nvSpPr>
        <p:spPr>
          <a:xfrm>
            <a:off x="1097280" y="4791456"/>
            <a:ext cx="2743200" cy="438912"/>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1188720" y="4837176"/>
            <a:ext cx="2560320" cy="347472"/>
          </a:xfrm>
          <a:prstGeom prst="rect">
            <a:avLst/>
          </a:prstGeom>
          <a:noFill/>
        </p:spPr>
        <p:txBody>
          <a:bodyPr wrap="square">
            <a:spAutoFit/>
          </a:bodyPr>
          <a:lstStyle/>
          <a:p>
            <a:pPr algn="l">
              <a:defRPr sz="1100" b="0">
                <a:solidFill>
                  <a:srgbClr val="334155"/>
                </a:solidFill>
                <a:latin typeface="Calibri"/>
              </a:defRPr>
            </a:pPr>
            <a:r>
              <a:t>Traditional OSS Governance</a:t>
            </a:r>
          </a:p>
        </p:txBody>
      </p:sp>
      <p:sp>
        <p:nvSpPr>
          <p:cNvPr id="102" name="Rectangle 101"/>
          <p:cNvSpPr/>
          <p:nvPr/>
        </p:nvSpPr>
        <p:spPr>
          <a:xfrm>
            <a:off x="3840480" y="4791456"/>
            <a:ext cx="1463040" cy="438912"/>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3931920" y="4837176"/>
            <a:ext cx="1280160" cy="347472"/>
          </a:xfrm>
          <a:prstGeom prst="rect">
            <a:avLst/>
          </a:prstGeom>
          <a:noFill/>
        </p:spPr>
        <p:txBody>
          <a:bodyPr wrap="square">
            <a:spAutoFit/>
          </a:bodyPr>
          <a:lstStyle/>
          <a:p>
            <a:pPr algn="ctr">
              <a:defRPr sz="1200" b="0">
                <a:solidFill>
                  <a:srgbClr val="059669"/>
                </a:solidFill>
                <a:latin typeface="Calibri"/>
              </a:defRPr>
            </a:pPr>
            <a:r>
              <a:t>✓</a:t>
            </a:r>
          </a:p>
        </p:txBody>
      </p:sp>
      <p:sp>
        <p:nvSpPr>
          <p:cNvPr id="104" name="Rectangle 103"/>
          <p:cNvSpPr/>
          <p:nvPr/>
        </p:nvSpPr>
        <p:spPr>
          <a:xfrm>
            <a:off x="5303520" y="4791456"/>
            <a:ext cx="1280160" cy="438912"/>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5394960" y="4837176"/>
            <a:ext cx="1097280" cy="347472"/>
          </a:xfrm>
          <a:prstGeom prst="rect">
            <a:avLst/>
          </a:prstGeom>
          <a:noFill/>
        </p:spPr>
        <p:txBody>
          <a:bodyPr wrap="square">
            <a:spAutoFit/>
          </a:bodyPr>
          <a:lstStyle/>
          <a:p>
            <a:pPr algn="ctr">
              <a:defRPr sz="1200" b="0">
                <a:solidFill>
                  <a:srgbClr val="059669"/>
                </a:solidFill>
                <a:latin typeface="Calibri"/>
              </a:defRPr>
            </a:pPr>
            <a:r>
              <a:t>✓</a:t>
            </a:r>
          </a:p>
        </p:txBody>
      </p:sp>
      <p:sp>
        <p:nvSpPr>
          <p:cNvPr id="106" name="Rectangle 105"/>
          <p:cNvSpPr/>
          <p:nvPr/>
        </p:nvSpPr>
        <p:spPr>
          <a:xfrm>
            <a:off x="6583680" y="4791456"/>
            <a:ext cx="1280160" cy="438912"/>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extBox 106"/>
          <p:cNvSpPr txBox="1"/>
          <p:nvPr/>
        </p:nvSpPr>
        <p:spPr>
          <a:xfrm>
            <a:off x="6675120" y="4837176"/>
            <a:ext cx="1097280" cy="347472"/>
          </a:xfrm>
          <a:prstGeom prst="rect">
            <a:avLst/>
          </a:prstGeom>
          <a:noFill/>
        </p:spPr>
        <p:txBody>
          <a:bodyPr wrap="square">
            <a:spAutoFit/>
          </a:bodyPr>
          <a:lstStyle/>
          <a:p>
            <a:pPr algn="ctr">
              <a:defRPr sz="1200" b="0">
                <a:solidFill>
                  <a:srgbClr val="059669"/>
                </a:solidFill>
                <a:latin typeface="Calibri"/>
              </a:defRPr>
            </a:pPr>
            <a:r>
              <a:t>✓</a:t>
            </a:r>
          </a:p>
        </p:txBody>
      </p:sp>
      <p:sp>
        <p:nvSpPr>
          <p:cNvPr id="108" name="Rectangle 107"/>
          <p:cNvSpPr/>
          <p:nvPr/>
        </p:nvSpPr>
        <p:spPr>
          <a:xfrm>
            <a:off x="7863840" y="4791456"/>
            <a:ext cx="1280160" cy="438912"/>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TextBox 108"/>
          <p:cNvSpPr txBox="1"/>
          <p:nvPr/>
        </p:nvSpPr>
        <p:spPr>
          <a:xfrm>
            <a:off x="7955280" y="4837176"/>
            <a:ext cx="1097280" cy="347472"/>
          </a:xfrm>
          <a:prstGeom prst="rect">
            <a:avLst/>
          </a:prstGeom>
          <a:noFill/>
        </p:spPr>
        <p:txBody>
          <a:bodyPr wrap="square">
            <a:spAutoFit/>
          </a:bodyPr>
          <a:lstStyle/>
          <a:p>
            <a:pPr algn="ctr">
              <a:defRPr sz="1200" b="0">
                <a:solidFill>
                  <a:srgbClr val="059669"/>
                </a:solidFill>
                <a:latin typeface="Calibri"/>
              </a:defRPr>
            </a:pPr>
            <a:r>
              <a:t>✓</a:t>
            </a:r>
          </a:p>
        </p:txBody>
      </p:sp>
      <p:sp>
        <p:nvSpPr>
          <p:cNvPr id="110" name="Rectangle 109"/>
          <p:cNvSpPr/>
          <p:nvPr/>
        </p:nvSpPr>
        <p:spPr>
          <a:xfrm>
            <a:off x="9144000" y="4791456"/>
            <a:ext cx="1463040" cy="438912"/>
          </a:xfrm>
          <a:prstGeom prst="rect">
            <a:avLst/>
          </a:prstGeom>
          <a:solidFill>
            <a:srgbClr val="DBEAFE"/>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TextBox 110"/>
          <p:cNvSpPr txBox="1"/>
          <p:nvPr/>
        </p:nvSpPr>
        <p:spPr>
          <a:xfrm>
            <a:off x="9235440" y="4837176"/>
            <a:ext cx="1280160" cy="347472"/>
          </a:xfrm>
          <a:prstGeom prst="rect">
            <a:avLst/>
          </a:prstGeom>
          <a:noFill/>
        </p:spPr>
        <p:txBody>
          <a:bodyPr wrap="square">
            <a:spAutoFit/>
          </a:bodyPr>
          <a:lstStyle/>
          <a:p>
            <a:pPr algn="ctr">
              <a:defRPr sz="1200" b="1">
                <a:solidFill>
                  <a:srgbClr val="059669"/>
                </a:solidFill>
                <a:latin typeface="Calibri"/>
              </a:defRPr>
            </a:pPr>
            <a:r>
              <a:t>✓</a:t>
            </a:r>
          </a:p>
        </p:txBody>
      </p:sp>
      <p:sp>
        <p:nvSpPr>
          <p:cNvPr id="112" name="TextBox 111"/>
          <p:cNvSpPr txBox="1"/>
          <p:nvPr/>
        </p:nvSpPr>
        <p:spPr>
          <a:xfrm>
            <a:off x="1097280" y="5303520"/>
            <a:ext cx="9601200" cy="457200"/>
          </a:xfrm>
          <a:prstGeom prst="rect">
            <a:avLst/>
          </a:prstGeom>
          <a:noFill/>
        </p:spPr>
        <p:txBody>
          <a:bodyPr wrap="square">
            <a:spAutoFit/>
          </a:bodyPr>
          <a:lstStyle/>
          <a:p>
            <a:pPr algn="ctr">
              <a:defRPr sz="1400" b="1">
                <a:solidFill>
                  <a:srgbClr val="4F46E5"/>
                </a:solidFill>
                <a:latin typeface="Calibri"/>
              </a:defRPr>
            </a:pPr>
            <a:r>
              <a:t>AOSF doesn't compete with existing foundations — it fills the gaps they weren't designed to address.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B3D"/>
        </a:solidFill>
        <a:effectLst/>
      </p:bgPr>
    </p:bg>
    <p:spTree>
      <p:nvGrpSpPr>
        <p:cNvPr id="1" name=""/>
        <p:cNvGrpSpPr/>
        <p:nvPr/>
      </p:nvGrpSpPr>
      <p:grpSpPr/>
      <p:sp>
        <p:nvSpPr>
          <p:cNvPr id="2" name="TextBox 1"/>
          <p:cNvSpPr txBox="1"/>
          <p:nvPr/>
        </p:nvSpPr>
        <p:spPr>
          <a:xfrm>
            <a:off x="1097280" y="2286000"/>
            <a:ext cx="10058400" cy="914400"/>
          </a:xfrm>
          <a:prstGeom prst="rect">
            <a:avLst/>
          </a:prstGeom>
          <a:noFill/>
        </p:spPr>
        <p:txBody>
          <a:bodyPr wrap="square">
            <a:spAutoFit/>
          </a:bodyPr>
          <a:lstStyle/>
          <a:p>
            <a:pPr algn="l">
              <a:defRPr sz="7200" b="1">
                <a:solidFill>
                  <a:srgbClr val="4F46E5"/>
                </a:solidFill>
                <a:latin typeface="Calibri"/>
              </a:defRPr>
            </a:pPr>
            <a:r>
              <a:t>04</a:t>
            </a:r>
          </a:p>
        </p:txBody>
      </p:sp>
      <p:sp>
        <p:nvSpPr>
          <p:cNvPr id="3" name="TextBox 2"/>
          <p:cNvSpPr txBox="1"/>
          <p:nvPr/>
        </p:nvSpPr>
        <p:spPr>
          <a:xfrm>
            <a:off x="1097280" y="3474720"/>
            <a:ext cx="10058400" cy="914400"/>
          </a:xfrm>
          <a:prstGeom prst="rect">
            <a:avLst/>
          </a:prstGeom>
          <a:noFill/>
        </p:spPr>
        <p:txBody>
          <a:bodyPr wrap="square">
            <a:spAutoFit/>
          </a:bodyPr>
          <a:lstStyle/>
          <a:p>
            <a:pPr algn="l">
              <a:defRPr sz="4000" b="1">
                <a:solidFill>
                  <a:srgbClr val="FFFFFF"/>
                </a:solidFill>
                <a:latin typeface="Calibri"/>
              </a:defRPr>
            </a:pPr>
            <a:r>
              <a:t>Introducing AOSF</a:t>
            </a:r>
          </a:p>
        </p:txBody>
      </p:sp>
      <p:sp>
        <p:nvSpPr>
          <p:cNvPr id="4" name="TextBox 3"/>
          <p:cNvSpPr txBox="1"/>
          <p:nvPr/>
        </p:nvSpPr>
        <p:spPr>
          <a:xfrm>
            <a:off x="1097280" y="4297680"/>
            <a:ext cx="8229600" cy="731520"/>
          </a:xfrm>
          <a:prstGeom prst="rect">
            <a:avLst/>
          </a:prstGeom>
          <a:noFill/>
        </p:spPr>
        <p:txBody>
          <a:bodyPr wrap="square">
            <a:spAutoFit/>
          </a:bodyPr>
          <a:lstStyle/>
          <a:p>
            <a:pPr algn="l">
              <a:defRPr sz="1800" b="0">
                <a:solidFill>
                  <a:srgbClr val="64748B"/>
                </a:solidFill>
                <a:latin typeface="Calibri"/>
              </a:defRPr>
            </a:pPr>
            <a:r>
              <a:t>Agentic Open Source Foundation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457200"/>
            <a:ext cx="10058400" cy="548640"/>
          </a:xfrm>
          <a:prstGeom prst="rect">
            <a:avLst/>
          </a:prstGeom>
          <a:noFill/>
        </p:spPr>
        <p:txBody>
          <a:bodyPr wrap="square">
            <a:spAutoFit/>
          </a:bodyPr>
          <a:lstStyle/>
          <a:p>
            <a:pPr algn="l">
              <a:defRPr sz="3200" b="1">
                <a:solidFill>
                  <a:srgbClr val="0F1B3D"/>
                </a:solidFill>
                <a:latin typeface="Calibri"/>
              </a:defRPr>
            </a:pPr>
            <a:r>
              <a:t>Five Core Functions</a:t>
            </a:r>
          </a:p>
        </p:txBody>
      </p:sp>
      <p:sp>
        <p:nvSpPr>
          <p:cNvPr id="4" name="Rounded Rectangle 3"/>
          <p:cNvSpPr/>
          <p:nvPr/>
        </p:nvSpPr>
        <p:spPr>
          <a:xfrm>
            <a:off x="518007" y="1280160"/>
            <a:ext cx="2011680" cy="34747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18007" y="1280160"/>
            <a:ext cx="2011680" cy="4572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6607" y="1463039"/>
            <a:ext cx="1554480" cy="731520"/>
          </a:xfrm>
          <a:prstGeom prst="rect">
            <a:avLst/>
          </a:prstGeom>
          <a:noFill/>
        </p:spPr>
        <p:txBody>
          <a:bodyPr wrap="square">
            <a:spAutoFit/>
          </a:bodyPr>
          <a:lstStyle/>
          <a:p>
            <a:pPr algn="l">
              <a:defRPr sz="1500" b="1">
                <a:solidFill>
                  <a:srgbClr val="4F46E5"/>
                </a:solidFill>
                <a:latin typeface="Calibri"/>
              </a:defRPr>
            </a:pPr>
            <a:r>
              <a:t>📦  Vibe-Coded Project</a:t>
            </a:r>
            <a:br/>
            <a:r>
              <a:t>Repository</a:t>
            </a:r>
          </a:p>
        </p:txBody>
      </p:sp>
      <p:sp>
        <p:nvSpPr>
          <p:cNvPr id="7" name="TextBox 6"/>
          <p:cNvSpPr txBox="1"/>
          <p:nvPr/>
        </p:nvSpPr>
        <p:spPr>
          <a:xfrm>
            <a:off x="746607" y="2286000"/>
            <a:ext cx="1554480" cy="2331720"/>
          </a:xfrm>
          <a:prstGeom prst="rect">
            <a:avLst/>
          </a:prstGeom>
          <a:noFill/>
        </p:spPr>
        <p:txBody>
          <a:bodyPr wrap="square">
            <a:spAutoFit/>
          </a:bodyPr>
          <a:lstStyle/>
          <a:p>
            <a:pPr algn="l">
              <a:defRPr sz="1200" b="0">
                <a:solidFill>
                  <a:srgbClr val="64748B"/>
                </a:solidFill>
                <a:latin typeface="Calibri"/>
              </a:defRPr>
            </a:pPr>
            <a:r>
              <a:t>Curated home for AI-generated</a:t>
            </a:r>
            <a:br/>
            <a:r>
              <a:t>OSS with quality tiers:</a:t>
            </a:r>
            <a:br/>
            <a:r>
              <a:t>Experimental → Enterprise</a:t>
            </a:r>
          </a:p>
        </p:txBody>
      </p:sp>
      <p:sp>
        <p:nvSpPr>
          <p:cNvPr id="8" name="Rounded Rectangle 7"/>
          <p:cNvSpPr/>
          <p:nvPr/>
        </p:nvSpPr>
        <p:spPr>
          <a:xfrm>
            <a:off x="2804007" y="1280160"/>
            <a:ext cx="2011680" cy="34747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804007" y="1280160"/>
            <a:ext cx="2011680" cy="4572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032607" y="1463039"/>
            <a:ext cx="1554480" cy="731520"/>
          </a:xfrm>
          <a:prstGeom prst="rect">
            <a:avLst/>
          </a:prstGeom>
          <a:noFill/>
        </p:spPr>
        <p:txBody>
          <a:bodyPr wrap="square">
            <a:spAutoFit/>
          </a:bodyPr>
          <a:lstStyle/>
          <a:p>
            <a:pPr algn="l">
              <a:defRPr sz="1500" b="1">
                <a:solidFill>
                  <a:srgbClr val="D97706"/>
                </a:solidFill>
                <a:latin typeface="Calibri"/>
              </a:defRPr>
            </a:pPr>
            <a:r>
              <a:t>🦀  Rust Migration</a:t>
            </a:r>
            <a:br/>
            <a:r>
              <a:t>Initiative</a:t>
            </a:r>
          </a:p>
        </p:txBody>
      </p:sp>
      <p:sp>
        <p:nvSpPr>
          <p:cNvPr id="11" name="TextBox 10"/>
          <p:cNvSpPr txBox="1"/>
          <p:nvPr/>
        </p:nvSpPr>
        <p:spPr>
          <a:xfrm>
            <a:off x="3032607" y="2286000"/>
            <a:ext cx="1554480" cy="2331720"/>
          </a:xfrm>
          <a:prstGeom prst="rect">
            <a:avLst/>
          </a:prstGeom>
          <a:noFill/>
        </p:spPr>
        <p:txBody>
          <a:bodyPr wrap="square">
            <a:spAutoFit/>
          </a:bodyPr>
          <a:lstStyle/>
          <a:p>
            <a:pPr algn="l">
              <a:defRPr sz="1200" b="0">
                <a:solidFill>
                  <a:srgbClr val="64748B"/>
                </a:solidFill>
                <a:latin typeface="Calibri"/>
              </a:defRPr>
            </a:pPr>
            <a:r>
              <a:t>AI-assisted C/C++ → Rust</a:t>
            </a:r>
            <a:br/>
            <a:r>
              <a:t>translation for critical</a:t>
            </a:r>
            <a:br/>
            <a:r>
              <a:t>infrastructure at scale</a:t>
            </a:r>
          </a:p>
        </p:txBody>
      </p:sp>
      <p:sp>
        <p:nvSpPr>
          <p:cNvPr id="12" name="Rounded Rectangle 11"/>
          <p:cNvSpPr/>
          <p:nvPr/>
        </p:nvSpPr>
        <p:spPr>
          <a:xfrm>
            <a:off x="5090007" y="1280160"/>
            <a:ext cx="2011680" cy="34747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90007" y="1280160"/>
            <a:ext cx="2011680" cy="45720"/>
          </a:xfrm>
          <a:prstGeom prst="rect">
            <a:avLst/>
          </a:prstGeom>
          <a:solidFill>
            <a:srgbClr val="0891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318607" y="1463039"/>
            <a:ext cx="1554480" cy="731520"/>
          </a:xfrm>
          <a:prstGeom prst="rect">
            <a:avLst/>
          </a:prstGeom>
          <a:noFill/>
        </p:spPr>
        <p:txBody>
          <a:bodyPr wrap="square">
            <a:spAutoFit/>
          </a:bodyPr>
          <a:lstStyle/>
          <a:p>
            <a:pPr algn="l">
              <a:defRPr sz="1500" b="1">
                <a:solidFill>
                  <a:srgbClr val="0891B2"/>
                </a:solidFill>
                <a:latin typeface="Calibri"/>
              </a:defRPr>
            </a:pPr>
            <a:r>
              <a:t>🤖  Agentic-Native</a:t>
            </a:r>
            <a:br/>
            <a:r>
              <a:t>Operations</a:t>
            </a:r>
          </a:p>
        </p:txBody>
      </p:sp>
      <p:sp>
        <p:nvSpPr>
          <p:cNvPr id="15" name="TextBox 14"/>
          <p:cNvSpPr txBox="1"/>
          <p:nvPr/>
        </p:nvSpPr>
        <p:spPr>
          <a:xfrm>
            <a:off x="5318607" y="2286000"/>
            <a:ext cx="1554480" cy="2331720"/>
          </a:xfrm>
          <a:prstGeom prst="rect">
            <a:avLst/>
          </a:prstGeom>
          <a:noFill/>
        </p:spPr>
        <p:txBody>
          <a:bodyPr wrap="square">
            <a:spAutoFit/>
          </a:bodyPr>
          <a:lstStyle/>
          <a:p>
            <a:pPr algn="l">
              <a:defRPr sz="1200" b="0">
                <a:solidFill>
                  <a:srgbClr val="64748B"/>
                </a:solidFill>
                <a:latin typeface="Calibri"/>
              </a:defRPr>
            </a:pPr>
            <a:r>
              <a:t>Agent-assisted reviews,</a:t>
            </a:r>
            <a:br/>
            <a:r>
              <a:t>automated docs, transparent</a:t>
            </a:r>
            <a:br/>
            <a:r>
              <a:t>audit trails + DAO hybrid</a:t>
            </a:r>
          </a:p>
        </p:txBody>
      </p:sp>
      <p:sp>
        <p:nvSpPr>
          <p:cNvPr id="16" name="Rounded Rectangle 15"/>
          <p:cNvSpPr/>
          <p:nvPr/>
        </p:nvSpPr>
        <p:spPr>
          <a:xfrm>
            <a:off x="7376007" y="1280160"/>
            <a:ext cx="2011680" cy="34747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376007" y="1280160"/>
            <a:ext cx="2011680" cy="4572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607" y="1463039"/>
            <a:ext cx="1554480" cy="731520"/>
          </a:xfrm>
          <a:prstGeom prst="rect">
            <a:avLst/>
          </a:prstGeom>
          <a:noFill/>
        </p:spPr>
        <p:txBody>
          <a:bodyPr wrap="square">
            <a:spAutoFit/>
          </a:bodyPr>
          <a:lstStyle/>
          <a:p>
            <a:pPr algn="l">
              <a:defRPr sz="1500" b="1">
                <a:solidFill>
                  <a:srgbClr val="059669"/>
                </a:solidFill>
                <a:latin typeface="Calibri"/>
              </a:defRPr>
            </a:pPr>
            <a:r>
              <a:t>⚖️  Ethical AI Dev</a:t>
            </a:r>
            <a:br/>
            <a:r>
              <a:t>Standards</a:t>
            </a:r>
          </a:p>
        </p:txBody>
      </p:sp>
      <p:sp>
        <p:nvSpPr>
          <p:cNvPr id="19" name="TextBox 18"/>
          <p:cNvSpPr txBox="1"/>
          <p:nvPr/>
        </p:nvSpPr>
        <p:spPr>
          <a:xfrm>
            <a:off x="7604607" y="2286000"/>
            <a:ext cx="1554480" cy="2331720"/>
          </a:xfrm>
          <a:prstGeom prst="rect">
            <a:avLst/>
          </a:prstGeom>
          <a:noFill/>
        </p:spPr>
        <p:txBody>
          <a:bodyPr wrap="square">
            <a:spAutoFit/>
          </a:bodyPr>
          <a:lstStyle/>
          <a:p>
            <a:pPr algn="l">
              <a:defRPr sz="1200" b="0">
                <a:solidFill>
                  <a:srgbClr val="64748B"/>
                </a:solidFill>
                <a:latin typeface="Calibri"/>
              </a:defRPr>
            </a:pPr>
            <a:r>
              <a:t>Attribution, licensing,</a:t>
            </a:r>
            <a:br/>
            <a:r>
              <a:t>human-in-the-loop frameworks</a:t>
            </a:r>
            <a:br/>
            <a:r>
              <a:t>for AI-generated code</a:t>
            </a:r>
          </a:p>
        </p:txBody>
      </p:sp>
      <p:sp>
        <p:nvSpPr>
          <p:cNvPr id="20" name="Rounded Rectangle 19"/>
          <p:cNvSpPr/>
          <p:nvPr/>
        </p:nvSpPr>
        <p:spPr>
          <a:xfrm>
            <a:off x="9662007" y="1280160"/>
            <a:ext cx="2011680" cy="34747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9662007" y="1280160"/>
            <a:ext cx="2011680" cy="4572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890607" y="1463039"/>
            <a:ext cx="1554480" cy="731520"/>
          </a:xfrm>
          <a:prstGeom prst="rect">
            <a:avLst/>
          </a:prstGeom>
          <a:noFill/>
        </p:spPr>
        <p:txBody>
          <a:bodyPr wrap="square">
            <a:spAutoFit/>
          </a:bodyPr>
          <a:lstStyle/>
          <a:p>
            <a:pPr algn="l">
              <a:defRPr sz="1500" b="1">
                <a:solidFill>
                  <a:srgbClr val="7C3AED"/>
                </a:solidFill>
                <a:latin typeface="Calibri"/>
              </a:defRPr>
            </a:pPr>
            <a:r>
              <a:t>🏆  CELLO</a:t>
            </a:r>
            <a:br/>
            <a:r>
              <a:t>Leaderboard</a:t>
            </a:r>
          </a:p>
        </p:txBody>
      </p:sp>
      <p:sp>
        <p:nvSpPr>
          <p:cNvPr id="23" name="TextBox 22"/>
          <p:cNvSpPr txBox="1"/>
          <p:nvPr/>
        </p:nvSpPr>
        <p:spPr>
          <a:xfrm>
            <a:off x="9890607" y="2286000"/>
            <a:ext cx="1554480" cy="2331720"/>
          </a:xfrm>
          <a:prstGeom prst="rect">
            <a:avLst/>
          </a:prstGeom>
          <a:noFill/>
        </p:spPr>
        <p:txBody>
          <a:bodyPr wrap="square">
            <a:spAutoFit/>
          </a:bodyPr>
          <a:lstStyle/>
          <a:p>
            <a:pPr algn="l">
              <a:defRPr sz="1200" b="0">
                <a:solidFill>
                  <a:srgbClr val="64748B"/>
                </a:solidFill>
                <a:latin typeface="Calibri"/>
              </a:defRPr>
            </a:pPr>
            <a:r>
              <a:t>100% open-source LLM code</a:t>
            </a:r>
            <a:br/>
            <a:r>
              <a:t>evaluation. Open models,</a:t>
            </a:r>
            <a:br/>
            <a:r>
              <a:t>open tools, reproducible</a:t>
            </a:r>
          </a:p>
        </p:txBody>
      </p:sp>
      <p:sp>
        <p:nvSpPr>
          <p:cNvPr id="24" name="TextBox 23"/>
          <p:cNvSpPr txBox="1"/>
          <p:nvPr/>
        </p:nvSpPr>
        <p:spPr>
          <a:xfrm>
            <a:off x="1097280" y="5120640"/>
            <a:ext cx="9601200" cy="548640"/>
          </a:xfrm>
          <a:prstGeom prst="rect">
            <a:avLst/>
          </a:prstGeom>
          <a:noFill/>
        </p:spPr>
        <p:txBody>
          <a:bodyPr wrap="square">
            <a:spAutoFit/>
          </a:bodyPr>
          <a:lstStyle/>
          <a:p>
            <a:pPr algn="ctr">
              <a:defRPr sz="1500" b="0">
                <a:solidFill>
                  <a:srgbClr val="64748B"/>
                </a:solidFill>
                <a:latin typeface="Calibri"/>
              </a:defRPr>
            </a:pPr>
            <a:r>
              <a:t>Together: comprehensive governance for AI-generated open source software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457200"/>
            <a:ext cx="10058400" cy="548640"/>
          </a:xfrm>
          <a:prstGeom prst="rect">
            <a:avLst/>
          </a:prstGeom>
          <a:noFill/>
        </p:spPr>
        <p:txBody>
          <a:bodyPr wrap="square">
            <a:spAutoFit/>
          </a:bodyPr>
          <a:lstStyle/>
          <a:p>
            <a:pPr algn="l">
              <a:defRPr sz="3200" b="1">
                <a:solidFill>
                  <a:srgbClr val="0F1B3D"/>
                </a:solidFill>
                <a:latin typeface="Calibri"/>
              </a:defRPr>
            </a:pPr>
            <a:r>
              <a:t>AI Code Provenance Standard</a:t>
            </a:r>
          </a:p>
        </p:txBody>
      </p:sp>
      <p:sp>
        <p:nvSpPr>
          <p:cNvPr id="4" name="TextBox 3"/>
          <p:cNvSpPr txBox="1"/>
          <p:nvPr/>
        </p:nvSpPr>
        <p:spPr>
          <a:xfrm>
            <a:off x="1097280" y="1097280"/>
            <a:ext cx="9601200" cy="548640"/>
          </a:xfrm>
          <a:prstGeom prst="rect">
            <a:avLst/>
          </a:prstGeom>
          <a:noFill/>
        </p:spPr>
        <p:txBody>
          <a:bodyPr wrap="square">
            <a:spAutoFit/>
          </a:bodyPr>
          <a:lstStyle/>
          <a:p>
            <a:pPr algn="l">
              <a:defRPr sz="1600" b="0">
                <a:solidFill>
                  <a:srgbClr val="334155"/>
                </a:solidFill>
                <a:latin typeface="Calibri"/>
              </a:defRPr>
            </a:pPr>
            <a:r>
              <a:t>Machine-readable tracking of AI-generated code origins, review status, and quality — essential for enterprise trust.</a:t>
            </a:r>
          </a:p>
        </p:txBody>
      </p:sp>
      <p:sp>
        <p:nvSpPr>
          <p:cNvPr id="5" name="Rounded Rectangle 4"/>
          <p:cNvSpPr/>
          <p:nvPr/>
        </p:nvSpPr>
        <p:spPr>
          <a:xfrm>
            <a:off x="914400" y="2011680"/>
            <a:ext cx="1645920" cy="9144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2057400"/>
            <a:ext cx="1463040" cy="457200"/>
          </a:xfrm>
          <a:prstGeom prst="rect">
            <a:avLst/>
          </a:prstGeom>
          <a:noFill/>
        </p:spPr>
        <p:txBody>
          <a:bodyPr wrap="square">
            <a:spAutoFit/>
          </a:bodyPr>
          <a:lstStyle/>
          <a:p>
            <a:pPr algn="ctr">
              <a:defRPr sz="2400" b="0">
                <a:solidFill>
                  <a:srgbClr val="334155"/>
                </a:solidFill>
                <a:latin typeface="Calibri"/>
              </a:defRPr>
            </a:pPr>
            <a:r>
              <a:t>🤖</a:t>
            </a:r>
          </a:p>
        </p:txBody>
      </p:sp>
      <p:sp>
        <p:nvSpPr>
          <p:cNvPr id="7" name="TextBox 6"/>
          <p:cNvSpPr txBox="1"/>
          <p:nvPr/>
        </p:nvSpPr>
        <p:spPr>
          <a:xfrm>
            <a:off x="1005840" y="2468880"/>
            <a:ext cx="1463040" cy="365760"/>
          </a:xfrm>
          <a:prstGeom prst="rect">
            <a:avLst/>
          </a:prstGeom>
          <a:noFill/>
        </p:spPr>
        <p:txBody>
          <a:bodyPr wrap="square">
            <a:spAutoFit/>
          </a:bodyPr>
          <a:lstStyle/>
          <a:p>
            <a:pPr algn="ctr">
              <a:defRPr sz="1100" b="1">
                <a:solidFill>
                  <a:srgbClr val="334155"/>
                </a:solidFill>
                <a:latin typeface="Calibri"/>
              </a:defRPr>
            </a:pPr>
            <a:r>
              <a:t>AI Generation</a:t>
            </a:r>
          </a:p>
        </p:txBody>
      </p:sp>
      <p:sp>
        <p:nvSpPr>
          <p:cNvPr id="8" name="TextBox 7"/>
          <p:cNvSpPr txBox="1"/>
          <p:nvPr/>
        </p:nvSpPr>
        <p:spPr>
          <a:xfrm>
            <a:off x="2606040" y="2286000"/>
            <a:ext cx="457200" cy="365760"/>
          </a:xfrm>
          <a:prstGeom prst="rect">
            <a:avLst/>
          </a:prstGeom>
          <a:noFill/>
        </p:spPr>
        <p:txBody>
          <a:bodyPr wrap="square">
            <a:spAutoFit/>
          </a:bodyPr>
          <a:lstStyle/>
          <a:p>
            <a:pPr algn="ctr">
              <a:defRPr sz="1800" b="0">
                <a:solidFill>
                  <a:srgbClr val="64748B"/>
                </a:solidFill>
                <a:latin typeface="Calibri"/>
              </a:defRPr>
            </a:pPr>
            <a:r>
              <a:t>→</a:t>
            </a:r>
          </a:p>
        </p:txBody>
      </p:sp>
      <p:sp>
        <p:nvSpPr>
          <p:cNvPr id="9" name="Rounded Rectangle 8"/>
          <p:cNvSpPr/>
          <p:nvPr/>
        </p:nvSpPr>
        <p:spPr>
          <a:xfrm>
            <a:off x="3154680" y="2011680"/>
            <a:ext cx="1645920" cy="9144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46120" y="2057400"/>
            <a:ext cx="1463040" cy="457200"/>
          </a:xfrm>
          <a:prstGeom prst="rect">
            <a:avLst/>
          </a:prstGeom>
          <a:noFill/>
        </p:spPr>
        <p:txBody>
          <a:bodyPr wrap="square">
            <a:spAutoFit/>
          </a:bodyPr>
          <a:lstStyle/>
          <a:p>
            <a:pPr algn="ctr">
              <a:defRPr sz="2400" b="0">
                <a:solidFill>
                  <a:srgbClr val="334155"/>
                </a:solidFill>
                <a:latin typeface="Calibri"/>
              </a:defRPr>
            </a:pPr>
            <a:r>
              <a:t>🔍</a:t>
            </a:r>
          </a:p>
        </p:txBody>
      </p:sp>
      <p:sp>
        <p:nvSpPr>
          <p:cNvPr id="11" name="TextBox 10"/>
          <p:cNvSpPr txBox="1"/>
          <p:nvPr/>
        </p:nvSpPr>
        <p:spPr>
          <a:xfrm>
            <a:off x="3246120" y="2468880"/>
            <a:ext cx="1463040" cy="365760"/>
          </a:xfrm>
          <a:prstGeom prst="rect">
            <a:avLst/>
          </a:prstGeom>
          <a:noFill/>
        </p:spPr>
        <p:txBody>
          <a:bodyPr wrap="square">
            <a:spAutoFit/>
          </a:bodyPr>
          <a:lstStyle/>
          <a:p>
            <a:pPr algn="ctr">
              <a:defRPr sz="1100" b="1">
                <a:solidFill>
                  <a:srgbClr val="334155"/>
                </a:solidFill>
                <a:latin typeface="Calibri"/>
              </a:defRPr>
            </a:pPr>
            <a:r>
              <a:t>Security Scan</a:t>
            </a:r>
          </a:p>
        </p:txBody>
      </p:sp>
      <p:sp>
        <p:nvSpPr>
          <p:cNvPr id="12" name="TextBox 11"/>
          <p:cNvSpPr txBox="1"/>
          <p:nvPr/>
        </p:nvSpPr>
        <p:spPr>
          <a:xfrm>
            <a:off x="4846320" y="2286000"/>
            <a:ext cx="457200" cy="365760"/>
          </a:xfrm>
          <a:prstGeom prst="rect">
            <a:avLst/>
          </a:prstGeom>
          <a:noFill/>
        </p:spPr>
        <p:txBody>
          <a:bodyPr wrap="square">
            <a:spAutoFit/>
          </a:bodyPr>
          <a:lstStyle/>
          <a:p>
            <a:pPr algn="ctr">
              <a:defRPr sz="1800" b="0">
                <a:solidFill>
                  <a:srgbClr val="64748B"/>
                </a:solidFill>
                <a:latin typeface="Calibri"/>
              </a:defRPr>
            </a:pPr>
            <a:r>
              <a:t>→</a:t>
            </a:r>
          </a:p>
        </p:txBody>
      </p:sp>
      <p:sp>
        <p:nvSpPr>
          <p:cNvPr id="13" name="Rounded Rectangle 12"/>
          <p:cNvSpPr/>
          <p:nvPr/>
        </p:nvSpPr>
        <p:spPr>
          <a:xfrm>
            <a:off x="5394960" y="2011680"/>
            <a:ext cx="1645920" cy="9144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0" y="2057400"/>
            <a:ext cx="1463040" cy="457200"/>
          </a:xfrm>
          <a:prstGeom prst="rect">
            <a:avLst/>
          </a:prstGeom>
          <a:noFill/>
        </p:spPr>
        <p:txBody>
          <a:bodyPr wrap="square">
            <a:spAutoFit/>
          </a:bodyPr>
          <a:lstStyle/>
          <a:p>
            <a:pPr algn="ctr">
              <a:defRPr sz="2400" b="0">
                <a:solidFill>
                  <a:srgbClr val="334155"/>
                </a:solidFill>
                <a:latin typeface="Calibri"/>
              </a:defRPr>
            </a:pPr>
            <a:r>
              <a:t>👤</a:t>
            </a:r>
          </a:p>
        </p:txBody>
      </p:sp>
      <p:sp>
        <p:nvSpPr>
          <p:cNvPr id="15" name="TextBox 14"/>
          <p:cNvSpPr txBox="1"/>
          <p:nvPr/>
        </p:nvSpPr>
        <p:spPr>
          <a:xfrm>
            <a:off x="5486400" y="2468880"/>
            <a:ext cx="1463040" cy="365760"/>
          </a:xfrm>
          <a:prstGeom prst="rect">
            <a:avLst/>
          </a:prstGeom>
          <a:noFill/>
        </p:spPr>
        <p:txBody>
          <a:bodyPr wrap="square">
            <a:spAutoFit/>
          </a:bodyPr>
          <a:lstStyle/>
          <a:p>
            <a:pPr algn="ctr">
              <a:defRPr sz="1100" b="1">
                <a:solidFill>
                  <a:srgbClr val="334155"/>
                </a:solidFill>
                <a:latin typeface="Calibri"/>
              </a:defRPr>
            </a:pPr>
            <a:r>
              <a:t>Human Review</a:t>
            </a:r>
          </a:p>
        </p:txBody>
      </p:sp>
      <p:sp>
        <p:nvSpPr>
          <p:cNvPr id="16" name="TextBox 15"/>
          <p:cNvSpPr txBox="1"/>
          <p:nvPr/>
        </p:nvSpPr>
        <p:spPr>
          <a:xfrm>
            <a:off x="7086600" y="2286000"/>
            <a:ext cx="457200" cy="365760"/>
          </a:xfrm>
          <a:prstGeom prst="rect">
            <a:avLst/>
          </a:prstGeom>
          <a:noFill/>
        </p:spPr>
        <p:txBody>
          <a:bodyPr wrap="square">
            <a:spAutoFit/>
          </a:bodyPr>
          <a:lstStyle/>
          <a:p>
            <a:pPr algn="ctr">
              <a:defRPr sz="1800" b="0">
                <a:solidFill>
                  <a:srgbClr val="64748B"/>
                </a:solidFill>
                <a:latin typeface="Calibri"/>
              </a:defRPr>
            </a:pPr>
            <a:r>
              <a:t>→</a:t>
            </a:r>
          </a:p>
        </p:txBody>
      </p:sp>
      <p:sp>
        <p:nvSpPr>
          <p:cNvPr id="17" name="Rounded Rectangle 16"/>
          <p:cNvSpPr/>
          <p:nvPr/>
        </p:nvSpPr>
        <p:spPr>
          <a:xfrm>
            <a:off x="7635240" y="2011680"/>
            <a:ext cx="1645920" cy="9144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26680" y="2057400"/>
            <a:ext cx="1463040" cy="457200"/>
          </a:xfrm>
          <a:prstGeom prst="rect">
            <a:avLst/>
          </a:prstGeom>
          <a:noFill/>
        </p:spPr>
        <p:txBody>
          <a:bodyPr wrap="square">
            <a:spAutoFit/>
          </a:bodyPr>
          <a:lstStyle/>
          <a:p>
            <a:pPr algn="ctr">
              <a:defRPr sz="2400" b="0">
                <a:solidFill>
                  <a:srgbClr val="334155"/>
                </a:solidFill>
                <a:latin typeface="Calibri"/>
              </a:defRPr>
            </a:pPr>
            <a:r>
              <a:t>🏆</a:t>
            </a:r>
          </a:p>
        </p:txBody>
      </p:sp>
      <p:sp>
        <p:nvSpPr>
          <p:cNvPr id="19" name="TextBox 18"/>
          <p:cNvSpPr txBox="1"/>
          <p:nvPr/>
        </p:nvSpPr>
        <p:spPr>
          <a:xfrm>
            <a:off x="7726680" y="2468880"/>
            <a:ext cx="1463040" cy="365760"/>
          </a:xfrm>
          <a:prstGeom prst="rect">
            <a:avLst/>
          </a:prstGeom>
          <a:noFill/>
        </p:spPr>
        <p:txBody>
          <a:bodyPr wrap="square">
            <a:spAutoFit/>
          </a:bodyPr>
          <a:lstStyle/>
          <a:p>
            <a:pPr algn="ctr">
              <a:defRPr sz="1100" b="1">
                <a:solidFill>
                  <a:srgbClr val="334155"/>
                </a:solidFill>
                <a:latin typeface="Calibri"/>
              </a:defRPr>
            </a:pPr>
            <a:r>
              <a:t>CELLO Score</a:t>
            </a:r>
          </a:p>
        </p:txBody>
      </p:sp>
      <p:sp>
        <p:nvSpPr>
          <p:cNvPr id="20" name="TextBox 19"/>
          <p:cNvSpPr txBox="1"/>
          <p:nvPr/>
        </p:nvSpPr>
        <p:spPr>
          <a:xfrm>
            <a:off x="9326880" y="2286000"/>
            <a:ext cx="457200" cy="365760"/>
          </a:xfrm>
          <a:prstGeom prst="rect">
            <a:avLst/>
          </a:prstGeom>
          <a:noFill/>
        </p:spPr>
        <p:txBody>
          <a:bodyPr wrap="square">
            <a:spAutoFit/>
          </a:bodyPr>
          <a:lstStyle/>
          <a:p>
            <a:pPr algn="ctr">
              <a:defRPr sz="1800" b="0">
                <a:solidFill>
                  <a:srgbClr val="64748B"/>
                </a:solidFill>
                <a:latin typeface="Calibri"/>
              </a:defRPr>
            </a:pPr>
            <a:r>
              <a:t>→</a:t>
            </a:r>
          </a:p>
        </p:txBody>
      </p:sp>
      <p:sp>
        <p:nvSpPr>
          <p:cNvPr id="21" name="Rounded Rectangle 20"/>
          <p:cNvSpPr/>
          <p:nvPr/>
        </p:nvSpPr>
        <p:spPr>
          <a:xfrm>
            <a:off x="9875520" y="2011680"/>
            <a:ext cx="1645920" cy="9144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966960" y="2057400"/>
            <a:ext cx="1463040" cy="457200"/>
          </a:xfrm>
          <a:prstGeom prst="rect">
            <a:avLst/>
          </a:prstGeom>
          <a:noFill/>
        </p:spPr>
        <p:txBody>
          <a:bodyPr wrap="square">
            <a:spAutoFit/>
          </a:bodyPr>
          <a:lstStyle/>
          <a:p>
            <a:pPr algn="ctr">
              <a:defRPr sz="2400" b="0">
                <a:solidFill>
                  <a:srgbClr val="334155"/>
                </a:solidFill>
                <a:latin typeface="Calibri"/>
              </a:defRPr>
            </a:pPr>
            <a:r>
              <a:t>📋</a:t>
            </a:r>
          </a:p>
        </p:txBody>
      </p:sp>
      <p:sp>
        <p:nvSpPr>
          <p:cNvPr id="23" name="TextBox 22"/>
          <p:cNvSpPr txBox="1"/>
          <p:nvPr/>
        </p:nvSpPr>
        <p:spPr>
          <a:xfrm>
            <a:off x="9966960" y="2468880"/>
            <a:ext cx="1463040" cy="365760"/>
          </a:xfrm>
          <a:prstGeom prst="rect">
            <a:avLst/>
          </a:prstGeom>
          <a:noFill/>
        </p:spPr>
        <p:txBody>
          <a:bodyPr wrap="square">
            <a:spAutoFit/>
          </a:bodyPr>
          <a:lstStyle/>
          <a:p>
            <a:pPr algn="ctr">
              <a:defRPr sz="1100" b="1">
                <a:solidFill>
                  <a:srgbClr val="334155"/>
                </a:solidFill>
                <a:latin typeface="Calibri"/>
              </a:defRPr>
            </a:pPr>
            <a:r>
              <a:t>Provenance Record</a:t>
            </a:r>
          </a:p>
        </p:txBody>
      </p:sp>
      <p:sp>
        <p:nvSpPr>
          <p:cNvPr id="24" name="Rounded Rectangle 23"/>
          <p:cNvSpPr/>
          <p:nvPr/>
        </p:nvSpPr>
        <p:spPr>
          <a:xfrm>
            <a:off x="1097280" y="3291840"/>
            <a:ext cx="9601200" cy="2560320"/>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371600" y="3474720"/>
            <a:ext cx="9144000" cy="2194560"/>
          </a:xfrm>
          <a:prstGeom prst="rect">
            <a:avLst/>
          </a:prstGeom>
          <a:noFill/>
        </p:spPr>
        <p:txBody>
          <a:bodyPr wrap="square">
            <a:spAutoFit/>
          </a:bodyPr>
          <a:lstStyle/>
          <a:p>
            <a:pPr algn="l">
              <a:defRPr sz="1400" b="0">
                <a:solidFill>
                  <a:srgbClr val="86EFAC"/>
                </a:solidFill>
                <a:latin typeface="Courier New"/>
              </a:defRPr>
            </a:pPr>
            <a:r>
              <a:t>{</a:t>
            </a:r>
            <a:br/>
            <a:r>
              <a:t>  "schema": "aosf-provenance/v1",</a:t>
            </a:r>
            <a:br/>
            <a:r>
              <a:t>  "model_id": "deepseek-coder-v3-236b",</a:t>
            </a:r>
            <a:br/>
            <a:r>
              <a:t>  "human_reviewer": "@chris-dev",</a:t>
            </a:r>
            <a:br/>
            <a:r>
              <a:t>  "security_scan": { "tool": "semgrep", "findings": 0, "passed": true },</a:t>
            </a:r>
            <a:br/>
            <a:r>
              <a:t>  "cello_score": 87.4,</a:t>
            </a:r>
            <a:br/>
            <a:r>
              <a:t>  "quality_tier": "production-ready",</a:t>
            </a:r>
            <a:br/>
            <a:r>
              <a:t>  "license": "Apache-2.0"</a:t>
            </a:r>
            <a:br/>
            <a:r>
              <a: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457200"/>
            <a:ext cx="10058400" cy="548640"/>
          </a:xfrm>
          <a:prstGeom prst="rect">
            <a:avLst/>
          </a:prstGeom>
          <a:noFill/>
        </p:spPr>
        <p:txBody>
          <a:bodyPr wrap="square">
            <a:spAutoFit/>
          </a:bodyPr>
          <a:lstStyle/>
          <a:p>
            <a:pPr algn="l">
              <a:defRPr sz="3200" b="1">
                <a:solidFill>
                  <a:srgbClr val="0F1B3D"/>
                </a:solidFill>
                <a:latin typeface="Calibri"/>
              </a:defRPr>
            </a:pPr>
            <a:r>
              <a:t>Quality Tier Pipeline</a:t>
            </a:r>
          </a:p>
        </p:txBody>
      </p:sp>
      <p:sp>
        <p:nvSpPr>
          <p:cNvPr id="4" name="TextBox 3"/>
          <p:cNvSpPr txBox="1"/>
          <p:nvPr/>
        </p:nvSpPr>
        <p:spPr>
          <a:xfrm>
            <a:off x="1097280" y="1097280"/>
            <a:ext cx="9601200" cy="457200"/>
          </a:xfrm>
          <a:prstGeom prst="rect">
            <a:avLst/>
          </a:prstGeom>
          <a:noFill/>
        </p:spPr>
        <p:txBody>
          <a:bodyPr wrap="square">
            <a:spAutoFit/>
          </a:bodyPr>
          <a:lstStyle/>
          <a:p>
            <a:pPr algn="l">
              <a:defRPr sz="1500" b="0">
                <a:solidFill>
                  <a:srgbClr val="334155"/>
                </a:solidFill>
                <a:latin typeface="Calibri"/>
              </a:defRPr>
            </a:pPr>
            <a:r>
              <a:t>Every AOSF-hosted project progresses through tiers based on security, testing, docs, and community validation.</a:t>
            </a:r>
          </a:p>
        </p:txBody>
      </p:sp>
      <p:sp>
        <p:nvSpPr>
          <p:cNvPr id="5" name="Rounded Rectangle 4"/>
          <p:cNvSpPr/>
          <p:nvPr/>
        </p:nvSpPr>
        <p:spPr>
          <a:xfrm>
            <a:off x="914400" y="2011680"/>
            <a:ext cx="2468880" cy="2743200"/>
          </a:xfrm>
          <a:prstGeom prst="roundRect">
            <a:avLst/>
          </a:prstGeom>
          <a:solidFill>
            <a:srgbClr val="FEE2E2"/>
          </a:solidFill>
          <a:ln w="254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2148840"/>
            <a:ext cx="2103120" cy="274320"/>
          </a:xfrm>
          <a:prstGeom prst="rect">
            <a:avLst/>
          </a:prstGeom>
          <a:noFill/>
        </p:spPr>
        <p:txBody>
          <a:bodyPr wrap="square">
            <a:spAutoFit/>
          </a:bodyPr>
          <a:lstStyle/>
          <a:p>
            <a:pPr algn="ctr">
              <a:defRPr sz="1000" b="1">
                <a:solidFill>
                  <a:srgbClr val="DC2626"/>
                </a:solidFill>
                <a:latin typeface="Calibri"/>
              </a:defRPr>
            </a:pPr>
            <a:r>
              <a:t>TIER 1</a:t>
            </a:r>
          </a:p>
        </p:txBody>
      </p:sp>
      <p:sp>
        <p:nvSpPr>
          <p:cNvPr id="7" name="TextBox 6"/>
          <p:cNvSpPr txBox="1"/>
          <p:nvPr/>
        </p:nvSpPr>
        <p:spPr>
          <a:xfrm>
            <a:off x="1097280" y="2468880"/>
            <a:ext cx="2103120" cy="365760"/>
          </a:xfrm>
          <a:prstGeom prst="rect">
            <a:avLst/>
          </a:prstGeom>
          <a:noFill/>
        </p:spPr>
        <p:txBody>
          <a:bodyPr wrap="square">
            <a:spAutoFit/>
          </a:bodyPr>
          <a:lstStyle/>
          <a:p>
            <a:pPr algn="ctr">
              <a:defRPr sz="1600" b="1">
                <a:solidFill>
                  <a:srgbClr val="DC2626"/>
                </a:solidFill>
                <a:latin typeface="Calibri"/>
              </a:defRPr>
            </a:pPr>
            <a:r>
              <a:t>Experimental</a:t>
            </a:r>
          </a:p>
        </p:txBody>
      </p:sp>
      <p:sp>
        <p:nvSpPr>
          <p:cNvPr id="8" name="TextBox 7"/>
          <p:cNvSpPr txBox="1"/>
          <p:nvPr/>
        </p:nvSpPr>
        <p:spPr>
          <a:xfrm>
            <a:off x="1097280" y="3017520"/>
            <a:ext cx="2103120" cy="1371600"/>
          </a:xfrm>
          <a:prstGeom prst="rect">
            <a:avLst/>
          </a:prstGeom>
          <a:noFill/>
        </p:spPr>
        <p:txBody>
          <a:bodyPr wrap="square">
            <a:spAutoFit/>
          </a:bodyPr>
          <a:lstStyle/>
          <a:p>
            <a:pPr algn="ctr">
              <a:defRPr sz="1200" b="0">
                <a:solidFill>
                  <a:srgbClr val="334155"/>
                </a:solidFill>
                <a:latin typeface="Calibri"/>
              </a:defRPr>
            </a:pPr>
            <a:r>
              <a:t>Initial submission</a:t>
            </a:r>
            <a:br/>
            <a:r>
              <a:t>Basic scanning</a:t>
            </a:r>
            <a:br/>
            <a:r>
              <a:t>No guarantees</a:t>
            </a:r>
          </a:p>
        </p:txBody>
      </p:sp>
      <p:sp>
        <p:nvSpPr>
          <p:cNvPr id="9" name="TextBox 8"/>
          <p:cNvSpPr txBox="1"/>
          <p:nvPr/>
        </p:nvSpPr>
        <p:spPr>
          <a:xfrm>
            <a:off x="3383280" y="2926080"/>
            <a:ext cx="365760" cy="457200"/>
          </a:xfrm>
          <a:prstGeom prst="rect">
            <a:avLst/>
          </a:prstGeom>
          <a:noFill/>
        </p:spPr>
        <p:txBody>
          <a:bodyPr wrap="square">
            <a:spAutoFit/>
          </a:bodyPr>
          <a:lstStyle/>
          <a:p>
            <a:pPr algn="ctr">
              <a:defRPr sz="2400" b="0">
                <a:solidFill>
                  <a:srgbClr val="64748B"/>
                </a:solidFill>
                <a:latin typeface="Calibri"/>
              </a:defRPr>
            </a:pPr>
            <a:r>
              <a:t>→</a:t>
            </a:r>
          </a:p>
        </p:txBody>
      </p:sp>
      <p:sp>
        <p:nvSpPr>
          <p:cNvPr id="10" name="Rounded Rectangle 9"/>
          <p:cNvSpPr/>
          <p:nvPr/>
        </p:nvSpPr>
        <p:spPr>
          <a:xfrm>
            <a:off x="3657600" y="2011680"/>
            <a:ext cx="2468880" cy="2743200"/>
          </a:xfrm>
          <a:prstGeom prst="roundRect">
            <a:avLst/>
          </a:prstGeom>
          <a:solidFill>
            <a:srgbClr val="FEF3C7"/>
          </a:solidFill>
          <a:ln w="254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840480" y="2148840"/>
            <a:ext cx="2103120" cy="274320"/>
          </a:xfrm>
          <a:prstGeom prst="rect">
            <a:avLst/>
          </a:prstGeom>
          <a:noFill/>
        </p:spPr>
        <p:txBody>
          <a:bodyPr wrap="square">
            <a:spAutoFit/>
          </a:bodyPr>
          <a:lstStyle/>
          <a:p>
            <a:pPr algn="ctr">
              <a:defRPr sz="1000" b="1">
                <a:solidFill>
                  <a:srgbClr val="D97706"/>
                </a:solidFill>
                <a:latin typeface="Calibri"/>
              </a:defRPr>
            </a:pPr>
            <a:r>
              <a:t>TIER 2</a:t>
            </a:r>
          </a:p>
        </p:txBody>
      </p:sp>
      <p:sp>
        <p:nvSpPr>
          <p:cNvPr id="12" name="TextBox 11"/>
          <p:cNvSpPr txBox="1"/>
          <p:nvPr/>
        </p:nvSpPr>
        <p:spPr>
          <a:xfrm>
            <a:off x="3840480" y="2468880"/>
            <a:ext cx="2103120" cy="365760"/>
          </a:xfrm>
          <a:prstGeom prst="rect">
            <a:avLst/>
          </a:prstGeom>
          <a:noFill/>
        </p:spPr>
        <p:txBody>
          <a:bodyPr wrap="square">
            <a:spAutoFit/>
          </a:bodyPr>
          <a:lstStyle/>
          <a:p>
            <a:pPr algn="ctr">
              <a:defRPr sz="1600" b="1">
                <a:solidFill>
                  <a:srgbClr val="D97706"/>
                </a:solidFill>
                <a:latin typeface="Calibri"/>
              </a:defRPr>
            </a:pPr>
            <a:r>
              <a:t>Validated</a:t>
            </a:r>
          </a:p>
        </p:txBody>
      </p:sp>
      <p:sp>
        <p:nvSpPr>
          <p:cNvPr id="13" name="TextBox 12"/>
          <p:cNvSpPr txBox="1"/>
          <p:nvPr/>
        </p:nvSpPr>
        <p:spPr>
          <a:xfrm>
            <a:off x="3840480" y="3017520"/>
            <a:ext cx="2103120" cy="1371600"/>
          </a:xfrm>
          <a:prstGeom prst="rect">
            <a:avLst/>
          </a:prstGeom>
          <a:noFill/>
        </p:spPr>
        <p:txBody>
          <a:bodyPr wrap="square">
            <a:spAutoFit/>
          </a:bodyPr>
          <a:lstStyle/>
          <a:p>
            <a:pPr algn="ctr">
              <a:defRPr sz="1200" b="0">
                <a:solidFill>
                  <a:srgbClr val="334155"/>
                </a:solidFill>
                <a:latin typeface="Calibri"/>
              </a:defRPr>
            </a:pPr>
            <a:r>
              <a:t>SAST/DAST passed</a:t>
            </a:r>
            <a:br/>
            <a:r>
              <a:t>Provenance verified</a:t>
            </a:r>
            <a:br/>
            <a:r>
              <a:t>Community reviewed</a:t>
            </a:r>
          </a:p>
        </p:txBody>
      </p:sp>
      <p:sp>
        <p:nvSpPr>
          <p:cNvPr id="14" name="TextBox 13"/>
          <p:cNvSpPr txBox="1"/>
          <p:nvPr/>
        </p:nvSpPr>
        <p:spPr>
          <a:xfrm>
            <a:off x="6126480" y="2926080"/>
            <a:ext cx="365760" cy="457200"/>
          </a:xfrm>
          <a:prstGeom prst="rect">
            <a:avLst/>
          </a:prstGeom>
          <a:noFill/>
        </p:spPr>
        <p:txBody>
          <a:bodyPr wrap="square">
            <a:spAutoFit/>
          </a:bodyPr>
          <a:lstStyle/>
          <a:p>
            <a:pPr algn="ctr">
              <a:defRPr sz="2400" b="0">
                <a:solidFill>
                  <a:srgbClr val="64748B"/>
                </a:solidFill>
                <a:latin typeface="Calibri"/>
              </a:defRPr>
            </a:pPr>
            <a:r>
              <a:t>→</a:t>
            </a:r>
          </a:p>
        </p:txBody>
      </p:sp>
      <p:sp>
        <p:nvSpPr>
          <p:cNvPr id="15" name="Rounded Rectangle 14"/>
          <p:cNvSpPr/>
          <p:nvPr/>
        </p:nvSpPr>
        <p:spPr>
          <a:xfrm>
            <a:off x="6400800" y="2011680"/>
            <a:ext cx="2468880" cy="2743200"/>
          </a:xfrm>
          <a:prstGeom prst="roundRect">
            <a:avLst/>
          </a:prstGeom>
          <a:solidFill>
            <a:srgbClr val="D1FAE5"/>
          </a:solidFill>
          <a:ln w="2540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80" y="2148840"/>
            <a:ext cx="2103120" cy="274320"/>
          </a:xfrm>
          <a:prstGeom prst="rect">
            <a:avLst/>
          </a:prstGeom>
          <a:noFill/>
        </p:spPr>
        <p:txBody>
          <a:bodyPr wrap="square">
            <a:spAutoFit/>
          </a:bodyPr>
          <a:lstStyle/>
          <a:p>
            <a:pPr algn="ctr">
              <a:defRPr sz="1000" b="1">
                <a:solidFill>
                  <a:srgbClr val="059669"/>
                </a:solidFill>
                <a:latin typeface="Calibri"/>
              </a:defRPr>
            </a:pPr>
            <a:r>
              <a:t>TIER 3</a:t>
            </a:r>
          </a:p>
        </p:txBody>
      </p:sp>
      <p:sp>
        <p:nvSpPr>
          <p:cNvPr id="17" name="TextBox 16"/>
          <p:cNvSpPr txBox="1"/>
          <p:nvPr/>
        </p:nvSpPr>
        <p:spPr>
          <a:xfrm>
            <a:off x="6583680" y="2468880"/>
            <a:ext cx="2103120" cy="365760"/>
          </a:xfrm>
          <a:prstGeom prst="rect">
            <a:avLst/>
          </a:prstGeom>
          <a:noFill/>
        </p:spPr>
        <p:txBody>
          <a:bodyPr wrap="square">
            <a:spAutoFit/>
          </a:bodyPr>
          <a:lstStyle/>
          <a:p>
            <a:pPr algn="ctr">
              <a:defRPr sz="1600" b="1">
                <a:solidFill>
                  <a:srgbClr val="059669"/>
                </a:solidFill>
                <a:latin typeface="Calibri"/>
              </a:defRPr>
            </a:pPr>
            <a:r>
              <a:t>Production-Ready</a:t>
            </a:r>
          </a:p>
        </p:txBody>
      </p:sp>
      <p:sp>
        <p:nvSpPr>
          <p:cNvPr id="18" name="TextBox 17"/>
          <p:cNvSpPr txBox="1"/>
          <p:nvPr/>
        </p:nvSpPr>
        <p:spPr>
          <a:xfrm>
            <a:off x="6583680" y="3017520"/>
            <a:ext cx="2103120" cy="1371600"/>
          </a:xfrm>
          <a:prstGeom prst="rect">
            <a:avLst/>
          </a:prstGeom>
          <a:noFill/>
        </p:spPr>
        <p:txBody>
          <a:bodyPr wrap="square">
            <a:spAutoFit/>
          </a:bodyPr>
          <a:lstStyle/>
          <a:p>
            <a:pPr algn="ctr">
              <a:defRPr sz="1200" b="0">
                <a:solidFill>
                  <a:srgbClr val="334155"/>
                </a:solidFill>
                <a:latin typeface="Calibri"/>
              </a:defRPr>
            </a:pPr>
            <a:r>
              <a:t>Full test coverage</a:t>
            </a:r>
            <a:br/>
            <a:r>
              <a:t>Security audit passed</a:t>
            </a:r>
            <a:br/>
            <a:r>
              <a:t>Docs complete</a:t>
            </a:r>
          </a:p>
        </p:txBody>
      </p:sp>
      <p:sp>
        <p:nvSpPr>
          <p:cNvPr id="19" name="TextBox 18"/>
          <p:cNvSpPr txBox="1"/>
          <p:nvPr/>
        </p:nvSpPr>
        <p:spPr>
          <a:xfrm>
            <a:off x="8869680" y="2926080"/>
            <a:ext cx="365760" cy="457200"/>
          </a:xfrm>
          <a:prstGeom prst="rect">
            <a:avLst/>
          </a:prstGeom>
          <a:noFill/>
        </p:spPr>
        <p:txBody>
          <a:bodyPr wrap="square">
            <a:spAutoFit/>
          </a:bodyPr>
          <a:lstStyle/>
          <a:p>
            <a:pPr algn="ctr">
              <a:defRPr sz="2400" b="0">
                <a:solidFill>
                  <a:srgbClr val="64748B"/>
                </a:solidFill>
                <a:latin typeface="Calibri"/>
              </a:defRPr>
            </a:pPr>
            <a:r>
              <a:t>→</a:t>
            </a:r>
          </a:p>
        </p:txBody>
      </p:sp>
      <p:sp>
        <p:nvSpPr>
          <p:cNvPr id="20" name="Rounded Rectangle 19"/>
          <p:cNvSpPr/>
          <p:nvPr/>
        </p:nvSpPr>
        <p:spPr>
          <a:xfrm>
            <a:off x="9144000" y="2011680"/>
            <a:ext cx="2468880" cy="2743200"/>
          </a:xfrm>
          <a:prstGeom prst="roundRect">
            <a:avLst/>
          </a:prstGeom>
          <a:solidFill>
            <a:srgbClr val="DBEAFE"/>
          </a:solidFill>
          <a:ln w="254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326880" y="2148840"/>
            <a:ext cx="2103120" cy="274320"/>
          </a:xfrm>
          <a:prstGeom prst="rect">
            <a:avLst/>
          </a:prstGeom>
          <a:noFill/>
        </p:spPr>
        <p:txBody>
          <a:bodyPr wrap="square">
            <a:spAutoFit/>
          </a:bodyPr>
          <a:lstStyle/>
          <a:p>
            <a:pPr algn="ctr">
              <a:defRPr sz="1000" b="1">
                <a:solidFill>
                  <a:srgbClr val="2563EB"/>
                </a:solidFill>
                <a:latin typeface="Calibri"/>
              </a:defRPr>
            </a:pPr>
            <a:r>
              <a:t>TIER 4</a:t>
            </a:r>
          </a:p>
        </p:txBody>
      </p:sp>
      <p:sp>
        <p:nvSpPr>
          <p:cNvPr id="22" name="TextBox 21"/>
          <p:cNvSpPr txBox="1"/>
          <p:nvPr/>
        </p:nvSpPr>
        <p:spPr>
          <a:xfrm>
            <a:off x="9326880" y="2468880"/>
            <a:ext cx="2103120" cy="365760"/>
          </a:xfrm>
          <a:prstGeom prst="rect">
            <a:avLst/>
          </a:prstGeom>
          <a:noFill/>
        </p:spPr>
        <p:txBody>
          <a:bodyPr wrap="square">
            <a:spAutoFit/>
          </a:bodyPr>
          <a:lstStyle/>
          <a:p>
            <a:pPr algn="ctr">
              <a:defRPr sz="1600" b="1">
                <a:solidFill>
                  <a:srgbClr val="2563EB"/>
                </a:solidFill>
                <a:latin typeface="Calibri"/>
              </a:defRPr>
            </a:pPr>
            <a:r>
              <a:t>Enterprise-Certified</a:t>
            </a:r>
          </a:p>
        </p:txBody>
      </p:sp>
      <p:sp>
        <p:nvSpPr>
          <p:cNvPr id="23" name="TextBox 22"/>
          <p:cNvSpPr txBox="1"/>
          <p:nvPr/>
        </p:nvSpPr>
        <p:spPr>
          <a:xfrm>
            <a:off x="9326880" y="3017520"/>
            <a:ext cx="2103120" cy="1371600"/>
          </a:xfrm>
          <a:prstGeom prst="rect">
            <a:avLst/>
          </a:prstGeom>
          <a:noFill/>
        </p:spPr>
        <p:txBody>
          <a:bodyPr wrap="square">
            <a:spAutoFit/>
          </a:bodyPr>
          <a:lstStyle/>
          <a:p>
            <a:pPr algn="ctr">
              <a:defRPr sz="1200" b="0">
                <a:solidFill>
                  <a:srgbClr val="334155"/>
                </a:solidFill>
                <a:latin typeface="Calibri"/>
              </a:defRPr>
            </a:pPr>
            <a:r>
              <a:t>Compliance verified</a:t>
            </a:r>
            <a:br/>
            <a:r>
              <a:t>SLA commitments</a:t>
            </a:r>
            <a:br/>
            <a:r>
              <a:t>Continuous monitoring</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F1B3D"/>
        </a:solidFill>
        <a:effectLst/>
      </p:bgPr>
    </p:bg>
    <p:spTree>
      <p:nvGrpSpPr>
        <p:cNvPr id="1" name=""/>
        <p:cNvGrpSpPr/>
        <p:nvPr/>
      </p:nvGrpSpPr>
      <p:grpSpPr/>
      <p:sp>
        <p:nvSpPr>
          <p:cNvPr id="2" name="TextBox 1"/>
          <p:cNvSpPr txBox="1"/>
          <p:nvPr/>
        </p:nvSpPr>
        <p:spPr>
          <a:xfrm>
            <a:off x="1097280" y="2286000"/>
            <a:ext cx="10058400" cy="914400"/>
          </a:xfrm>
          <a:prstGeom prst="rect">
            <a:avLst/>
          </a:prstGeom>
          <a:noFill/>
        </p:spPr>
        <p:txBody>
          <a:bodyPr wrap="square">
            <a:spAutoFit/>
          </a:bodyPr>
          <a:lstStyle/>
          <a:p>
            <a:pPr algn="l">
              <a:defRPr sz="7200" b="1">
                <a:solidFill>
                  <a:srgbClr val="4F46E5"/>
                </a:solidFill>
                <a:latin typeface="Calibri"/>
              </a:defRPr>
            </a:pPr>
            <a:r>
              <a:t>05</a:t>
            </a:r>
          </a:p>
        </p:txBody>
      </p:sp>
      <p:sp>
        <p:nvSpPr>
          <p:cNvPr id="3" name="TextBox 2"/>
          <p:cNvSpPr txBox="1"/>
          <p:nvPr/>
        </p:nvSpPr>
        <p:spPr>
          <a:xfrm>
            <a:off x="1097280" y="3474720"/>
            <a:ext cx="10058400" cy="914400"/>
          </a:xfrm>
          <a:prstGeom prst="rect">
            <a:avLst/>
          </a:prstGeom>
          <a:noFill/>
        </p:spPr>
        <p:txBody>
          <a:bodyPr wrap="square">
            <a:spAutoFit/>
          </a:bodyPr>
          <a:lstStyle/>
          <a:p>
            <a:pPr algn="l">
              <a:defRPr sz="4000" b="1">
                <a:solidFill>
                  <a:srgbClr val="FFFFFF"/>
                </a:solidFill>
                <a:latin typeface="Calibri"/>
              </a:defRPr>
            </a:pPr>
            <a:r>
              <a:t>Get Involved</a:t>
            </a:r>
          </a:p>
        </p:txBody>
      </p:sp>
      <p:sp>
        <p:nvSpPr>
          <p:cNvPr id="4" name="TextBox 3"/>
          <p:cNvSpPr txBox="1"/>
          <p:nvPr/>
        </p:nvSpPr>
        <p:spPr>
          <a:xfrm>
            <a:off x="1097280" y="4297680"/>
            <a:ext cx="8229600" cy="731520"/>
          </a:xfrm>
          <a:prstGeom prst="rect">
            <a:avLst/>
          </a:prstGeom>
          <a:noFill/>
        </p:spPr>
        <p:txBody>
          <a:bodyPr wrap="square">
            <a:spAutoFit/>
          </a:bodyPr>
          <a:lstStyle/>
          <a:p>
            <a:pPr algn="l">
              <a:defRPr sz="1800" b="0">
                <a:solidFill>
                  <a:srgbClr val="64748B"/>
                </a:solidFill>
                <a:latin typeface="Calibri"/>
              </a:defRPr>
            </a:pPr>
            <a:r>
              <a:t>Building the future of open source together</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457200"/>
            <a:ext cx="10058400" cy="548640"/>
          </a:xfrm>
          <a:prstGeom prst="rect">
            <a:avLst/>
          </a:prstGeom>
          <a:noFill/>
        </p:spPr>
        <p:txBody>
          <a:bodyPr wrap="square">
            <a:spAutoFit/>
          </a:bodyPr>
          <a:lstStyle/>
          <a:p>
            <a:pPr algn="l">
              <a:defRPr sz="3200" b="1">
                <a:solidFill>
                  <a:srgbClr val="0F1B3D"/>
                </a:solidFill>
                <a:latin typeface="Calibri"/>
              </a:defRPr>
            </a:pPr>
            <a:r>
              <a:t>How to Get Involved</a:t>
            </a:r>
          </a:p>
        </p:txBody>
      </p:sp>
      <p:sp>
        <p:nvSpPr>
          <p:cNvPr id="4" name="Rounded Rectangle 3"/>
          <p:cNvSpPr/>
          <p:nvPr/>
        </p:nvSpPr>
        <p:spPr>
          <a:xfrm>
            <a:off x="914400" y="1280160"/>
            <a:ext cx="3200400" cy="38404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14400" y="1280160"/>
            <a:ext cx="3200400" cy="4572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43000" y="1463039"/>
            <a:ext cx="2743200" cy="365760"/>
          </a:xfrm>
          <a:prstGeom prst="rect">
            <a:avLst/>
          </a:prstGeom>
          <a:noFill/>
        </p:spPr>
        <p:txBody>
          <a:bodyPr wrap="square">
            <a:spAutoFit/>
          </a:bodyPr>
          <a:lstStyle/>
          <a:p>
            <a:pPr algn="l">
              <a:defRPr sz="1500" b="1">
                <a:solidFill>
                  <a:srgbClr val="4F46E5"/>
                </a:solidFill>
                <a:latin typeface="Calibri"/>
              </a:defRPr>
            </a:pPr>
            <a:r>
              <a:t>👩‍💻  Developers</a:t>
            </a:r>
          </a:p>
        </p:txBody>
      </p:sp>
      <p:sp>
        <p:nvSpPr>
          <p:cNvPr id="7" name="TextBox 6"/>
          <p:cNvSpPr txBox="1"/>
          <p:nvPr/>
        </p:nvSpPr>
        <p:spPr>
          <a:xfrm>
            <a:off x="1143000" y="1874519"/>
            <a:ext cx="2743200" cy="3108960"/>
          </a:xfrm>
          <a:prstGeom prst="rect">
            <a:avLst/>
          </a:prstGeom>
          <a:noFill/>
        </p:spPr>
        <p:txBody>
          <a:bodyPr wrap="square">
            <a:spAutoFit/>
          </a:bodyPr>
          <a:lstStyle/>
          <a:p>
            <a:pPr algn="l">
              <a:defRPr sz="1200" b="0">
                <a:solidFill>
                  <a:srgbClr val="64748B"/>
                </a:solidFill>
                <a:latin typeface="Calibri"/>
              </a:defRPr>
            </a:pPr>
            <a:r>
              <a:t>Build the tools and infrastructure:</a:t>
            </a:r>
            <a:br/>
            <a:br/>
            <a:r>
              <a:t>• Contribute to CELLO benchmark</a:t>
            </a:r>
            <a:br/>
            <a:r>
              <a:t>• Build security scanning tools</a:t>
            </a:r>
            <a:br/>
            <a:r>
              <a:t>• Help Rust migration initiative</a:t>
            </a:r>
            <a:br/>
            <a:r>
              <a:t>• Submit AI-generated projects</a:t>
            </a:r>
            <a:br/>
            <a:r>
              <a:t>• Review community submissions</a:t>
            </a:r>
          </a:p>
        </p:txBody>
      </p:sp>
      <p:sp>
        <p:nvSpPr>
          <p:cNvPr id="8" name="Rounded Rectangle 7"/>
          <p:cNvSpPr/>
          <p:nvPr/>
        </p:nvSpPr>
        <p:spPr>
          <a:xfrm>
            <a:off x="4572000" y="1280160"/>
            <a:ext cx="3200400" cy="38404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0" y="1280160"/>
            <a:ext cx="3200400" cy="457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800600" y="1463039"/>
            <a:ext cx="2743200" cy="365760"/>
          </a:xfrm>
          <a:prstGeom prst="rect">
            <a:avLst/>
          </a:prstGeom>
          <a:noFill/>
        </p:spPr>
        <p:txBody>
          <a:bodyPr wrap="square">
            <a:spAutoFit/>
          </a:bodyPr>
          <a:lstStyle/>
          <a:p>
            <a:pPr algn="l">
              <a:defRPr sz="1500" b="1">
                <a:solidFill>
                  <a:srgbClr val="2563EB"/>
                </a:solidFill>
                <a:latin typeface="Calibri"/>
              </a:defRPr>
            </a:pPr>
            <a:r>
              <a:t>🏢  Enterprises</a:t>
            </a:r>
          </a:p>
        </p:txBody>
      </p:sp>
      <p:sp>
        <p:nvSpPr>
          <p:cNvPr id="11" name="TextBox 10"/>
          <p:cNvSpPr txBox="1"/>
          <p:nvPr/>
        </p:nvSpPr>
        <p:spPr>
          <a:xfrm>
            <a:off x="4800600" y="1874519"/>
            <a:ext cx="2743200" cy="3108960"/>
          </a:xfrm>
          <a:prstGeom prst="rect">
            <a:avLst/>
          </a:prstGeom>
          <a:noFill/>
        </p:spPr>
        <p:txBody>
          <a:bodyPr wrap="square">
            <a:spAutoFit/>
          </a:bodyPr>
          <a:lstStyle/>
          <a:p>
            <a:pPr algn="l">
              <a:defRPr sz="1200" b="0">
                <a:solidFill>
                  <a:srgbClr val="64748B"/>
                </a:solidFill>
                <a:latin typeface="Calibri"/>
              </a:defRPr>
            </a:pPr>
            <a:r>
              <a:t>Shape the standards:</a:t>
            </a:r>
            <a:br/>
            <a:br/>
            <a:r>
              <a:t>• Sponsor provenance standard</a:t>
            </a:r>
            <a:br/>
            <a:r>
              <a:t>• Join governance committees</a:t>
            </a:r>
            <a:br/>
            <a:r>
              <a:t>• Enterprise certification cases</a:t>
            </a:r>
            <a:br/>
            <a:r>
              <a:t>• Co-develop ethical frameworks</a:t>
            </a:r>
            <a:br/>
            <a:r>
              <a:t>• Access certified project tiers</a:t>
            </a:r>
          </a:p>
        </p:txBody>
      </p:sp>
      <p:sp>
        <p:nvSpPr>
          <p:cNvPr id="12" name="Rounded Rectangle 11"/>
          <p:cNvSpPr/>
          <p:nvPr/>
        </p:nvSpPr>
        <p:spPr>
          <a:xfrm>
            <a:off x="8229600" y="1280160"/>
            <a:ext cx="3200400" cy="38404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229600" y="1280160"/>
            <a:ext cx="3200400" cy="4572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458200" y="1463039"/>
            <a:ext cx="2743200" cy="365760"/>
          </a:xfrm>
          <a:prstGeom prst="rect">
            <a:avLst/>
          </a:prstGeom>
          <a:noFill/>
        </p:spPr>
        <p:txBody>
          <a:bodyPr wrap="square">
            <a:spAutoFit/>
          </a:bodyPr>
          <a:lstStyle/>
          <a:p>
            <a:pPr algn="l">
              <a:defRPr sz="1500" b="1">
                <a:solidFill>
                  <a:srgbClr val="7C3AED"/>
                </a:solidFill>
                <a:latin typeface="Calibri"/>
              </a:defRPr>
            </a:pPr>
            <a:r>
              <a:t>🔬  Researchers</a:t>
            </a:r>
          </a:p>
        </p:txBody>
      </p:sp>
      <p:sp>
        <p:nvSpPr>
          <p:cNvPr id="15" name="TextBox 14"/>
          <p:cNvSpPr txBox="1"/>
          <p:nvPr/>
        </p:nvSpPr>
        <p:spPr>
          <a:xfrm>
            <a:off x="8458200" y="1874519"/>
            <a:ext cx="2743200" cy="3108960"/>
          </a:xfrm>
          <a:prstGeom prst="rect">
            <a:avLst/>
          </a:prstGeom>
          <a:noFill/>
        </p:spPr>
        <p:txBody>
          <a:bodyPr wrap="square">
            <a:spAutoFit/>
          </a:bodyPr>
          <a:lstStyle/>
          <a:p>
            <a:pPr algn="l">
              <a:defRPr sz="1200" b="0">
                <a:solidFill>
                  <a:srgbClr val="64748B"/>
                </a:solidFill>
                <a:latin typeface="Calibri"/>
              </a:defRPr>
            </a:pPr>
            <a:r>
              <a:t>Advance the science:</a:t>
            </a:r>
            <a:br/>
            <a:br/>
            <a:r>
              <a:t>• Evaluation methodologies</a:t>
            </a:r>
            <a:br/>
            <a:r>
              <a:t>• AI vulnerability patterns</a:t>
            </a:r>
            <a:br/>
            <a:r>
              <a:t>• Provenance &amp; attribution</a:t>
            </a:r>
            <a:br/>
            <a:r>
              <a:t>• Publish through working groups</a:t>
            </a:r>
            <a:br/>
            <a:r>
              <a:t>• Benchmark new OSS models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F1B3D"/>
        </a:solidFill>
        <a:effectLst/>
      </p:bgPr>
    </p:bg>
    <p:spTree>
      <p:nvGrpSpPr>
        <p:cNvPr id="1" name=""/>
        <p:cNvGrpSpPr/>
        <p:nvPr/>
      </p:nvGrpSpPr>
      <p:grpSpPr/>
      <p:sp>
        <p:nvSpPr>
          <p:cNvPr id="2" name="TextBox 1"/>
          <p:cNvSpPr txBox="1"/>
          <p:nvPr/>
        </p:nvSpPr>
        <p:spPr>
          <a:xfrm>
            <a:off x="1097280" y="1371600"/>
            <a:ext cx="10058400" cy="914400"/>
          </a:xfrm>
          <a:prstGeom prst="rect">
            <a:avLst/>
          </a:prstGeom>
          <a:noFill/>
        </p:spPr>
        <p:txBody>
          <a:bodyPr wrap="square">
            <a:spAutoFit/>
          </a:bodyPr>
          <a:lstStyle/>
          <a:p>
            <a:pPr algn="ctr">
              <a:defRPr sz="4400" b="1">
                <a:solidFill>
                  <a:srgbClr val="FFFFFF"/>
                </a:solidFill>
                <a:latin typeface="Calibri"/>
              </a:defRPr>
            </a:pPr>
            <a:r>
              <a:t>Ready to Build the Future</a:t>
            </a:r>
            <a:br/>
            <a:r>
              <a:t>of Open Source?</a:t>
            </a:r>
          </a:p>
        </p:txBody>
      </p:sp>
      <p:sp>
        <p:nvSpPr>
          <p:cNvPr id="3" name="TextBox 2"/>
          <p:cNvSpPr txBox="1"/>
          <p:nvPr/>
        </p:nvSpPr>
        <p:spPr>
          <a:xfrm>
            <a:off x="2286000" y="2926080"/>
            <a:ext cx="7772400" cy="731520"/>
          </a:xfrm>
          <a:prstGeom prst="rect">
            <a:avLst/>
          </a:prstGeom>
          <a:noFill/>
        </p:spPr>
        <p:txBody>
          <a:bodyPr wrap="square">
            <a:spAutoFit/>
          </a:bodyPr>
          <a:lstStyle/>
          <a:p>
            <a:pPr algn="ctr">
              <a:defRPr sz="1800" b="0">
                <a:solidFill>
                  <a:srgbClr val="64748B"/>
                </a:solidFill>
                <a:latin typeface="Calibri"/>
              </a:defRPr>
            </a:pPr>
            <a:r>
              <a:t>Join the first foundation purpose-built for the age of AI-generated code.</a:t>
            </a:r>
            <a:br/>
            <a:r>
              <a:t>Neutral governance. Open standards. Community-driven.</a:t>
            </a:r>
          </a:p>
        </p:txBody>
      </p:sp>
      <p:sp>
        <p:nvSpPr>
          <p:cNvPr id="4" name="Rounded Rectangle 3"/>
          <p:cNvSpPr/>
          <p:nvPr/>
        </p:nvSpPr>
        <p:spPr>
          <a:xfrm>
            <a:off x="3840480" y="4114800"/>
            <a:ext cx="2011680" cy="594360"/>
          </a:xfrm>
          <a:prstGeom prst="round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840480" y="4160520"/>
            <a:ext cx="2011680" cy="457200"/>
          </a:xfrm>
          <a:prstGeom prst="rect">
            <a:avLst/>
          </a:prstGeom>
          <a:noFill/>
        </p:spPr>
        <p:txBody>
          <a:bodyPr wrap="square">
            <a:spAutoFit/>
          </a:bodyPr>
          <a:lstStyle/>
          <a:p>
            <a:pPr algn="ctr">
              <a:defRPr sz="1400" b="1">
                <a:solidFill>
                  <a:srgbClr val="FFFFFF"/>
                </a:solidFill>
                <a:latin typeface="Calibri"/>
              </a:defRPr>
            </a:pPr>
            <a:r>
              <a:t>github.com/aosf-org</a:t>
            </a:r>
          </a:p>
        </p:txBody>
      </p:sp>
      <p:sp>
        <p:nvSpPr>
          <p:cNvPr id="6" name="Rounded Rectangle 5"/>
          <p:cNvSpPr/>
          <p:nvPr/>
        </p:nvSpPr>
        <p:spPr>
          <a:xfrm>
            <a:off x="6217920" y="4114800"/>
            <a:ext cx="2011680" cy="594360"/>
          </a:xfrm>
          <a:prstGeom prst="roundRect">
            <a:avLst/>
          </a:prstGeom>
          <a:solidFill>
            <a:srgbClr val="1E293B"/>
          </a:solidFill>
          <a:ln w="12700">
            <a:solidFill>
              <a:srgbClr val="64748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217920" y="4160520"/>
            <a:ext cx="2011680" cy="457200"/>
          </a:xfrm>
          <a:prstGeom prst="rect">
            <a:avLst/>
          </a:prstGeom>
          <a:noFill/>
        </p:spPr>
        <p:txBody>
          <a:bodyPr wrap="square">
            <a:spAutoFit/>
          </a:bodyPr>
          <a:lstStyle/>
          <a:p>
            <a:pPr algn="ctr">
              <a:defRPr sz="1400" b="1">
                <a:solidFill>
                  <a:srgbClr val="FFFFFF"/>
                </a:solidFill>
                <a:latin typeface="Calibri"/>
              </a:defRPr>
            </a:pPr>
            <a:r>
              <a:t>Explore CELLO</a:t>
            </a:r>
          </a:p>
        </p:txBody>
      </p:sp>
      <p:sp>
        <p:nvSpPr>
          <p:cNvPr id="8" name="TextBox 7"/>
          <p:cNvSpPr txBox="1"/>
          <p:nvPr/>
        </p:nvSpPr>
        <p:spPr>
          <a:xfrm>
            <a:off x="1097280" y="5303520"/>
            <a:ext cx="10058400" cy="457200"/>
          </a:xfrm>
          <a:prstGeom prst="rect">
            <a:avLst/>
          </a:prstGeom>
          <a:noFill/>
        </p:spPr>
        <p:txBody>
          <a:bodyPr wrap="square">
            <a:spAutoFit/>
          </a:bodyPr>
          <a:lstStyle/>
          <a:p>
            <a:pPr algn="ctr">
              <a:defRPr sz="1400" b="0">
                <a:solidFill>
                  <a:srgbClr val="64748B"/>
                </a:solidFill>
                <a:latin typeface="Calibri"/>
              </a:defRPr>
            </a:pPr>
            <a:r>
              <a:t>AOSF  •  Agentic Open Source Foundation  •  Est. 2026</a:t>
            </a:r>
          </a:p>
        </p:txBody>
      </p:sp>
      <p:sp>
        <p:nvSpPr>
          <p:cNvPr id="9" name="TextBox 8"/>
          <p:cNvSpPr txBox="1"/>
          <p:nvPr/>
        </p:nvSpPr>
        <p:spPr>
          <a:xfrm>
            <a:off x="1097280" y="5760720"/>
            <a:ext cx="10058400" cy="365760"/>
          </a:xfrm>
          <a:prstGeom prst="rect">
            <a:avLst/>
          </a:prstGeom>
          <a:noFill/>
        </p:spPr>
        <p:txBody>
          <a:bodyPr wrap="square">
            <a:spAutoFit/>
          </a:bodyPr>
          <a:lstStyle/>
          <a:p>
            <a:pPr algn="ctr">
              <a:defRPr sz="1200" b="0">
                <a:solidFill>
                  <a:srgbClr val="4ADE80"/>
                </a:solidFill>
                <a:latin typeface="Calibri"/>
              </a:defRPr>
            </a:pPr>
            <a:r>
              <a:t>🤖 Built by AI agents, for AI-generated software — with human oversight at every step</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